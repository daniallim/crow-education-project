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8288000" cy="10287000"/>
  <p:notesSz cx="6858000" cy="9144000"/>
  <p:embeddedFontLst>
    <p:embeddedFont>
      <p:font typeface="Arimo" panose="020B0604020202020204" charset="0"/>
      <p:regular r:id="rId34"/>
    </p:embeddedFont>
    <p:embeddedFont>
      <p:font typeface="Arimo Bold" panose="020B0604020202020204" charset="0"/>
      <p:regular r:id="rId35"/>
    </p:embeddedFont>
    <p:embeddedFont>
      <p:font typeface="Arimo Italics" panose="020B0604020202020204" charset="0"/>
      <p:regular r:id="rId36"/>
    </p:embeddedFont>
    <p:embeddedFont>
      <p:font typeface="Canva Sans" panose="020B0604020202020204" charset="0"/>
      <p:regular r:id="rId37"/>
    </p:embeddedFont>
    <p:embeddedFont>
      <p:font typeface="Canva Sans Bold" panose="020B0604020202020204" charset="0"/>
      <p:regular r:id="rId38"/>
    </p:embeddedFont>
    <p:embeddedFont>
      <p:font typeface="Canva Sans Italics" panose="020B0604020202020204" charset="0"/>
      <p:regular r:id="rId39"/>
    </p:embeddedFont>
    <p:embeddedFont>
      <p:font typeface="Garet Bold" panose="020B0604020202020204" charset="0"/>
      <p:regular r:id="rId40"/>
    </p:embeddedFont>
    <p:embeddedFont>
      <p:font typeface="Lato Bold" panose="020B0604020202020204" charset="0"/>
      <p:regular r:id="rId41"/>
    </p:embeddedFont>
    <p:embeddedFont>
      <p:font typeface="League Spartan" panose="020B0604020202020204" charset="0"/>
      <p:regular r:id="rId42"/>
    </p:embeddedFont>
    <p:embeddedFont>
      <p:font typeface="Libre Baskerville" panose="02000000000000000000" pitchFamily="2" charset="0"/>
      <p:regular r:id="rId43"/>
    </p:embeddedFont>
    <p:embeddedFont>
      <p:font typeface="Libre Baskerville Bold" panose="020B0604020202020204" charset="0"/>
      <p:regular r:id="rId44"/>
    </p:embeddedFont>
    <p:embeddedFont>
      <p:font typeface="Montserrat" panose="00000500000000000000" pitchFamily="2" charset="0"/>
      <p:regular r:id="rId45"/>
    </p:embeddedFont>
    <p:embeddedFont>
      <p:font typeface="Montserrat Bold" panose="020B0604020202020204" charset="0"/>
      <p:regular r:id="rId46"/>
    </p:embeddedFont>
    <p:embeddedFont>
      <p:font typeface="Montserrat Semi-Bold" panose="020B0604020202020204" charset="0"/>
      <p:regular r:id="rId47"/>
    </p:embeddedFont>
    <p:embeddedFont>
      <p:font typeface="Open Sans Medium" panose="020B0604020202020204" charset="0"/>
      <p:regular r:id="rId48"/>
    </p:embeddedFont>
    <p:embeddedFont>
      <p:font typeface="Poppins Bold" panose="020B0604020202020204" charset="0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3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font" Target="fonts/font15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font" Target="fonts/font1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8.jpeg"/><Relationship Id="rId7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0.jpeg"/><Relationship Id="rId10" Type="http://schemas.openxmlformats.org/officeDocument/2006/relationships/image" Target="../media/image12.jpeg"/><Relationship Id="rId4" Type="http://schemas.openxmlformats.org/officeDocument/2006/relationships/image" Target="../media/image9.jpeg"/><Relationship Id="rId9" Type="http://schemas.openxmlformats.org/officeDocument/2006/relationships/image" Target="../media/image1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jpeg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www.softwareadvice.com/lms/duolingo-profile/vs/khan-academy/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hyperlink" Target="https://www.businessofapps.com/data/duolingo-statistics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hyperlink" Target="https://annualreport.khanacademy.org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oleObject" Target="../embeddings/oleObject1.bin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1698270" y="3163161"/>
            <a:ext cx="7981895" cy="8190377"/>
          </a:xfrm>
          <a:custGeom>
            <a:avLst/>
            <a:gdLst/>
            <a:ahLst/>
            <a:cxnLst/>
            <a:rect l="l" t="t" r="r" b="b"/>
            <a:pathLst>
              <a:path w="7981895" h="8190377">
                <a:moveTo>
                  <a:pt x="7981895" y="0"/>
                </a:moveTo>
                <a:lnTo>
                  <a:pt x="0" y="0"/>
                </a:lnTo>
                <a:lnTo>
                  <a:pt x="0" y="8190378"/>
                </a:lnTo>
                <a:lnTo>
                  <a:pt x="7981895" y="8190378"/>
                </a:lnTo>
                <a:lnTo>
                  <a:pt x="798189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11439" y="6875919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0"/>
                </a:moveTo>
                <a:lnTo>
                  <a:pt x="5826380" y="0"/>
                </a:lnTo>
                <a:lnTo>
                  <a:pt x="5826380" y="3411081"/>
                </a:lnTo>
                <a:lnTo>
                  <a:pt x="0" y="34110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189814" y="5267839"/>
            <a:ext cx="13189821" cy="1418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72"/>
              </a:lnSpc>
            </a:pPr>
            <a:r>
              <a:rPr lang="en-US" sz="8265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CROW EDUCATION </a:t>
            </a:r>
          </a:p>
        </p:txBody>
      </p:sp>
      <p:sp>
        <p:nvSpPr>
          <p:cNvPr id="5" name="Freeform 5"/>
          <p:cNvSpPr/>
          <p:nvPr/>
        </p:nvSpPr>
        <p:spPr>
          <a:xfrm>
            <a:off x="16308720" y="65018"/>
            <a:ext cx="1865139" cy="1897613"/>
          </a:xfrm>
          <a:custGeom>
            <a:avLst/>
            <a:gdLst/>
            <a:ahLst/>
            <a:cxnLst/>
            <a:rect l="l" t="t" r="r" b="b"/>
            <a:pathLst>
              <a:path w="1865139" h="1897613">
                <a:moveTo>
                  <a:pt x="0" y="0"/>
                </a:moveTo>
                <a:lnTo>
                  <a:pt x="1865139" y="0"/>
                </a:lnTo>
                <a:lnTo>
                  <a:pt x="1865139" y="1897613"/>
                </a:lnTo>
                <a:lnTo>
                  <a:pt x="0" y="18976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830" t="-7569" r="-4830"/>
            </a:stretch>
          </a:blipFill>
        </p:spPr>
      </p:sp>
      <p:sp>
        <p:nvSpPr>
          <p:cNvPr id="6" name="Freeform 6"/>
          <p:cNvSpPr/>
          <p:nvPr/>
        </p:nvSpPr>
        <p:spPr>
          <a:xfrm rot="-66000" flipV="1">
            <a:off x="-485746" y="-602793"/>
            <a:ext cx="5890790" cy="3522303"/>
          </a:xfrm>
          <a:custGeom>
            <a:avLst/>
            <a:gdLst/>
            <a:ahLst/>
            <a:cxnLst/>
            <a:rect l="l" t="t" r="r" b="b"/>
            <a:pathLst>
              <a:path w="5890790" h="3522303">
                <a:moveTo>
                  <a:pt x="65484" y="3522304"/>
                </a:moveTo>
                <a:lnTo>
                  <a:pt x="5890790" y="3410452"/>
                </a:lnTo>
                <a:lnTo>
                  <a:pt x="5825306" y="0"/>
                </a:lnTo>
                <a:lnTo>
                  <a:pt x="0" y="111852"/>
                </a:lnTo>
                <a:lnTo>
                  <a:pt x="65484" y="352230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7881" t="-45838" r="-47881" b="-45838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54518" y="2197467"/>
            <a:ext cx="9927769" cy="3232297"/>
          </a:xfrm>
          <a:custGeom>
            <a:avLst/>
            <a:gdLst/>
            <a:ahLst/>
            <a:cxnLst/>
            <a:rect l="l" t="t" r="r" b="b"/>
            <a:pathLst>
              <a:path w="9927769" h="3232297">
                <a:moveTo>
                  <a:pt x="0" y="0"/>
                </a:moveTo>
                <a:lnTo>
                  <a:pt x="9927769" y="0"/>
                </a:lnTo>
                <a:lnTo>
                  <a:pt x="9927769" y="3232297"/>
                </a:lnTo>
                <a:lnTo>
                  <a:pt x="0" y="32322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579236" y="6664910"/>
            <a:ext cx="8526827" cy="817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7"/>
              </a:lnSpc>
            </a:pPr>
            <a:r>
              <a:rPr lang="en-US" sz="2319" b="1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Presented by Bird2 Group </a:t>
            </a:r>
          </a:p>
          <a:p>
            <a:pPr algn="just">
              <a:lnSpc>
                <a:spcPts val="3247"/>
              </a:lnSpc>
              <a:spcBef>
                <a:spcPct val="0"/>
              </a:spcBef>
            </a:pPr>
            <a:endParaRPr lang="en-US" sz="2319" b="1">
              <a:solidFill>
                <a:srgbClr val="303642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784725" y="2893162"/>
            <a:ext cx="7389134" cy="1162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66"/>
              </a:lnSpc>
              <a:spcBef>
                <a:spcPct val="0"/>
              </a:spcBef>
            </a:pPr>
            <a:r>
              <a:rPr lang="en-US" sz="6833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Penang Branch</a:t>
            </a:r>
          </a:p>
        </p:txBody>
      </p:sp>
      <p:sp>
        <p:nvSpPr>
          <p:cNvPr id="10" name="AutoShape 10"/>
          <p:cNvSpPr/>
          <p:nvPr/>
        </p:nvSpPr>
        <p:spPr>
          <a:xfrm flipH="1">
            <a:off x="10563237" y="2142651"/>
            <a:ext cx="54815" cy="28637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7440662" y="7220250"/>
            <a:ext cx="3532138" cy="2583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393"/>
              </a:lnSpc>
            </a:pPr>
            <a:r>
              <a:rPr lang="en-US" sz="2423" b="1" dirty="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1. Lim Shang Wen</a:t>
            </a:r>
          </a:p>
          <a:p>
            <a:pPr algn="just">
              <a:lnSpc>
                <a:spcPts val="3393"/>
              </a:lnSpc>
              <a:spcBef>
                <a:spcPct val="0"/>
              </a:spcBef>
            </a:pPr>
            <a:r>
              <a:rPr lang="en-US" sz="2423" b="1" dirty="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2. Loh Kien Ee</a:t>
            </a:r>
          </a:p>
          <a:p>
            <a:pPr algn="just">
              <a:lnSpc>
                <a:spcPts val="3393"/>
              </a:lnSpc>
              <a:spcBef>
                <a:spcPct val="0"/>
              </a:spcBef>
            </a:pPr>
            <a:r>
              <a:rPr lang="en-US" sz="2423" b="1" dirty="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3. Teoh Jia </a:t>
            </a:r>
            <a:r>
              <a:rPr lang="en-US" sz="2423" b="1" dirty="0" err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XIn</a:t>
            </a:r>
            <a:endParaRPr lang="en-US" sz="2423" b="1" dirty="0">
              <a:solidFill>
                <a:srgbClr val="000000"/>
              </a:solidFill>
              <a:latin typeface="Montserrat Semi-Bold"/>
              <a:ea typeface="Montserrat Semi-Bold"/>
              <a:cs typeface="Montserrat Semi-Bold"/>
              <a:sym typeface="Montserrat Semi-Bold"/>
            </a:endParaRPr>
          </a:p>
          <a:p>
            <a:pPr algn="just">
              <a:lnSpc>
                <a:spcPts val="3393"/>
              </a:lnSpc>
              <a:spcBef>
                <a:spcPct val="0"/>
              </a:spcBef>
            </a:pPr>
            <a:r>
              <a:rPr lang="en-US" sz="2423" b="1" dirty="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4. Ng Ying Zhe</a:t>
            </a:r>
          </a:p>
          <a:p>
            <a:pPr algn="just">
              <a:lnSpc>
                <a:spcPts val="3393"/>
              </a:lnSpc>
              <a:spcBef>
                <a:spcPct val="0"/>
              </a:spcBef>
            </a:pPr>
            <a:r>
              <a:rPr lang="en-US" sz="2423" b="1" dirty="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5. Yew Jason</a:t>
            </a:r>
          </a:p>
          <a:p>
            <a:pPr algn="just">
              <a:lnSpc>
                <a:spcPts val="3393"/>
              </a:lnSpc>
              <a:spcBef>
                <a:spcPct val="0"/>
              </a:spcBef>
            </a:pPr>
            <a:endParaRPr lang="en-US" sz="2423" b="1" dirty="0">
              <a:solidFill>
                <a:srgbClr val="000000"/>
              </a:solidFill>
              <a:latin typeface="Montserrat Semi-Bold"/>
              <a:ea typeface="Montserrat Semi-Bold"/>
              <a:cs typeface="Montserrat Semi-Bold"/>
              <a:sym typeface="Montserrat Semi-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336695" y="1432907"/>
            <a:ext cx="2960881" cy="2960544"/>
            <a:chOff x="0" y="0"/>
            <a:chExt cx="6350013" cy="6349289"/>
          </a:xfrm>
        </p:grpSpPr>
        <p:sp>
          <p:nvSpPr>
            <p:cNvPr id="4" name="Freeform 4"/>
            <p:cNvSpPr/>
            <p:nvPr/>
          </p:nvSpPr>
          <p:spPr>
            <a:xfrm>
              <a:off x="-2" y="-1"/>
              <a:ext cx="6350000" cy="6349290"/>
            </a:xfrm>
            <a:custGeom>
              <a:avLst/>
              <a:gdLst/>
              <a:ahLst/>
              <a:cxnLst/>
              <a:rect l="l" t="t" r="r" b="b"/>
              <a:pathLst>
                <a:path w="6350000" h="6349290">
                  <a:moveTo>
                    <a:pt x="5589297" y="1006730"/>
                  </a:moveTo>
                  <a:cubicBezTo>
                    <a:pt x="5465117" y="791694"/>
                    <a:pt x="5239933" y="671386"/>
                    <a:pt x="5008285" y="671221"/>
                  </a:cubicBezTo>
                  <a:lnTo>
                    <a:pt x="5008323" y="671183"/>
                  </a:lnTo>
                  <a:cubicBezTo>
                    <a:pt x="4776675" y="670980"/>
                    <a:pt x="4551453" y="550686"/>
                    <a:pt x="4427311" y="335675"/>
                  </a:cubicBezTo>
                  <a:cubicBezTo>
                    <a:pt x="4242069" y="14784"/>
                    <a:pt x="3831782" y="-95135"/>
                    <a:pt x="3510892" y="90146"/>
                  </a:cubicBezTo>
                  <a:lnTo>
                    <a:pt x="3510841" y="90184"/>
                  </a:lnTo>
                  <a:lnTo>
                    <a:pt x="3510841" y="89980"/>
                  </a:lnTo>
                  <a:cubicBezTo>
                    <a:pt x="3311540" y="204801"/>
                    <a:pt x="3058606" y="213894"/>
                    <a:pt x="2844523" y="92495"/>
                  </a:cubicBezTo>
                  <a:cubicBezTo>
                    <a:pt x="2741495" y="31767"/>
                    <a:pt x="2624048" y="-177"/>
                    <a:pt x="2504455" y="1"/>
                  </a:cubicBezTo>
                  <a:cubicBezTo>
                    <a:pt x="2256157" y="1"/>
                    <a:pt x="2039393" y="134913"/>
                    <a:pt x="1923366" y="335433"/>
                  </a:cubicBezTo>
                  <a:lnTo>
                    <a:pt x="1923366" y="335395"/>
                  </a:lnTo>
                  <a:cubicBezTo>
                    <a:pt x="1807377" y="535877"/>
                    <a:pt x="1590563" y="670790"/>
                    <a:pt x="1342303" y="670790"/>
                  </a:cubicBezTo>
                  <a:cubicBezTo>
                    <a:pt x="971781" y="670790"/>
                    <a:pt x="671438" y="971132"/>
                    <a:pt x="671438" y="1341654"/>
                  </a:cubicBezTo>
                  <a:lnTo>
                    <a:pt x="671438" y="1341731"/>
                  </a:lnTo>
                  <a:lnTo>
                    <a:pt x="671235" y="1341654"/>
                  </a:lnTo>
                  <a:cubicBezTo>
                    <a:pt x="671032" y="1571537"/>
                    <a:pt x="552554" y="1795019"/>
                    <a:pt x="340654" y="1919771"/>
                  </a:cubicBezTo>
                  <a:cubicBezTo>
                    <a:pt x="236398" y="1978609"/>
                    <a:pt x="149886" y="2064406"/>
                    <a:pt x="90185" y="2168170"/>
                  </a:cubicBezTo>
                  <a:cubicBezTo>
                    <a:pt x="-33970" y="2383232"/>
                    <a:pt x="-25525" y="2638388"/>
                    <a:pt x="90147" y="2839111"/>
                  </a:cubicBezTo>
                  <a:lnTo>
                    <a:pt x="90109" y="2839111"/>
                  </a:lnTo>
                  <a:cubicBezTo>
                    <a:pt x="205691" y="3039797"/>
                    <a:pt x="214137" y="3294978"/>
                    <a:pt x="89982" y="3510014"/>
                  </a:cubicBezTo>
                  <a:cubicBezTo>
                    <a:pt x="-95248" y="3830867"/>
                    <a:pt x="14658" y="4241153"/>
                    <a:pt x="335549" y="4426434"/>
                  </a:cubicBezTo>
                  <a:lnTo>
                    <a:pt x="335587" y="4426472"/>
                  </a:lnTo>
                  <a:lnTo>
                    <a:pt x="335460" y="4426561"/>
                  </a:lnTo>
                  <a:cubicBezTo>
                    <a:pt x="535980" y="4542499"/>
                    <a:pt x="670829" y="4759313"/>
                    <a:pt x="670829" y="5007611"/>
                  </a:cubicBezTo>
                  <a:cubicBezTo>
                    <a:pt x="670829" y="5378134"/>
                    <a:pt x="971171" y="5678476"/>
                    <a:pt x="1341681" y="5678476"/>
                  </a:cubicBezTo>
                  <a:cubicBezTo>
                    <a:pt x="1589991" y="5678476"/>
                    <a:pt x="1806717" y="5813362"/>
                    <a:pt x="1922782" y="6013883"/>
                  </a:cubicBezTo>
                  <a:cubicBezTo>
                    <a:pt x="2038771" y="6214314"/>
                    <a:pt x="2255573" y="6349290"/>
                    <a:pt x="2503845" y="6349290"/>
                  </a:cubicBezTo>
                  <a:cubicBezTo>
                    <a:pt x="2623437" y="6349444"/>
                    <a:pt x="2740879" y="6317498"/>
                    <a:pt x="2843913" y="6256783"/>
                  </a:cubicBezTo>
                  <a:cubicBezTo>
                    <a:pt x="3057946" y="6135409"/>
                    <a:pt x="3310943" y="6144502"/>
                    <a:pt x="3510231" y="6259361"/>
                  </a:cubicBezTo>
                  <a:lnTo>
                    <a:pt x="3510231" y="6259120"/>
                  </a:lnTo>
                  <a:lnTo>
                    <a:pt x="3510270" y="6259196"/>
                  </a:lnTo>
                  <a:cubicBezTo>
                    <a:pt x="3831160" y="6444438"/>
                    <a:pt x="4241447" y="6334482"/>
                    <a:pt x="4426740" y="6013629"/>
                  </a:cubicBezTo>
                  <a:cubicBezTo>
                    <a:pt x="4550882" y="5798630"/>
                    <a:pt x="4776066" y="5678311"/>
                    <a:pt x="5007714" y="5678145"/>
                  </a:cubicBezTo>
                  <a:lnTo>
                    <a:pt x="5007663" y="5678057"/>
                  </a:lnTo>
                  <a:cubicBezTo>
                    <a:pt x="5239311" y="5677892"/>
                    <a:pt x="5464533" y="5557572"/>
                    <a:pt x="5588637" y="5342573"/>
                  </a:cubicBezTo>
                  <a:cubicBezTo>
                    <a:pt x="5649762" y="5236719"/>
                    <a:pt x="5678769" y="5121098"/>
                    <a:pt x="5678642" y="5007078"/>
                  </a:cubicBezTo>
                  <a:lnTo>
                    <a:pt x="5678731" y="5007154"/>
                  </a:lnTo>
                  <a:cubicBezTo>
                    <a:pt x="5678934" y="4783710"/>
                    <a:pt x="5790897" y="4566222"/>
                    <a:pt x="5991811" y="4439692"/>
                  </a:cubicBezTo>
                  <a:cubicBezTo>
                    <a:pt x="6100117" y="4382745"/>
                    <a:pt x="6194110" y="4295484"/>
                    <a:pt x="6259781" y="4181730"/>
                  </a:cubicBezTo>
                  <a:cubicBezTo>
                    <a:pt x="6383975" y="3966617"/>
                    <a:pt x="6375529" y="3711436"/>
                    <a:pt x="6259870" y="3510751"/>
                  </a:cubicBezTo>
                  <a:lnTo>
                    <a:pt x="6259908" y="3510751"/>
                  </a:lnTo>
                  <a:cubicBezTo>
                    <a:pt x="6144287" y="3310066"/>
                    <a:pt x="6135829" y="3054884"/>
                    <a:pt x="6259997" y="2839835"/>
                  </a:cubicBezTo>
                  <a:cubicBezTo>
                    <a:pt x="6445278" y="2518944"/>
                    <a:pt x="6335321" y="2108696"/>
                    <a:pt x="6014430" y="1923416"/>
                  </a:cubicBezTo>
                  <a:lnTo>
                    <a:pt x="6014379" y="1923365"/>
                  </a:lnTo>
                  <a:lnTo>
                    <a:pt x="6014506" y="1923327"/>
                  </a:lnTo>
                  <a:cubicBezTo>
                    <a:pt x="5815599" y="1808240"/>
                    <a:pt x="5681309" y="1593953"/>
                    <a:pt x="5679188" y="1348131"/>
                  </a:cubicBezTo>
                  <a:cubicBezTo>
                    <a:pt x="5680356" y="1232130"/>
                    <a:pt x="5651438" y="1114401"/>
                    <a:pt x="5589297" y="1006730"/>
                  </a:cubicBezTo>
                </a:path>
              </a:pathLst>
            </a:custGeom>
            <a:blipFill>
              <a:blip r:embed="rId3"/>
              <a:stretch>
                <a:fillRect t="-12506" b="-12506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7059702" y="1432907"/>
            <a:ext cx="2960881" cy="2960544"/>
            <a:chOff x="0" y="0"/>
            <a:chExt cx="6350013" cy="6349289"/>
          </a:xfrm>
        </p:grpSpPr>
        <p:sp>
          <p:nvSpPr>
            <p:cNvPr id="6" name="Freeform 6"/>
            <p:cNvSpPr/>
            <p:nvPr/>
          </p:nvSpPr>
          <p:spPr>
            <a:xfrm>
              <a:off x="-2" y="-1"/>
              <a:ext cx="6350000" cy="6349290"/>
            </a:xfrm>
            <a:custGeom>
              <a:avLst/>
              <a:gdLst/>
              <a:ahLst/>
              <a:cxnLst/>
              <a:rect l="l" t="t" r="r" b="b"/>
              <a:pathLst>
                <a:path w="6350000" h="6349290">
                  <a:moveTo>
                    <a:pt x="5589297" y="1006730"/>
                  </a:moveTo>
                  <a:cubicBezTo>
                    <a:pt x="5465117" y="791694"/>
                    <a:pt x="5239933" y="671386"/>
                    <a:pt x="5008285" y="671221"/>
                  </a:cubicBezTo>
                  <a:lnTo>
                    <a:pt x="5008323" y="671183"/>
                  </a:lnTo>
                  <a:cubicBezTo>
                    <a:pt x="4776675" y="670980"/>
                    <a:pt x="4551453" y="550686"/>
                    <a:pt x="4427311" y="335675"/>
                  </a:cubicBezTo>
                  <a:cubicBezTo>
                    <a:pt x="4242069" y="14784"/>
                    <a:pt x="3831782" y="-95135"/>
                    <a:pt x="3510892" y="90146"/>
                  </a:cubicBezTo>
                  <a:lnTo>
                    <a:pt x="3510841" y="90184"/>
                  </a:lnTo>
                  <a:lnTo>
                    <a:pt x="3510841" y="89980"/>
                  </a:lnTo>
                  <a:cubicBezTo>
                    <a:pt x="3311540" y="204801"/>
                    <a:pt x="3058606" y="213894"/>
                    <a:pt x="2844523" y="92495"/>
                  </a:cubicBezTo>
                  <a:cubicBezTo>
                    <a:pt x="2741495" y="31767"/>
                    <a:pt x="2624048" y="-177"/>
                    <a:pt x="2504455" y="1"/>
                  </a:cubicBezTo>
                  <a:cubicBezTo>
                    <a:pt x="2256157" y="1"/>
                    <a:pt x="2039393" y="134913"/>
                    <a:pt x="1923366" y="335433"/>
                  </a:cubicBezTo>
                  <a:lnTo>
                    <a:pt x="1923366" y="335395"/>
                  </a:lnTo>
                  <a:cubicBezTo>
                    <a:pt x="1807377" y="535877"/>
                    <a:pt x="1590563" y="670790"/>
                    <a:pt x="1342303" y="670790"/>
                  </a:cubicBezTo>
                  <a:cubicBezTo>
                    <a:pt x="971781" y="670790"/>
                    <a:pt x="671438" y="971132"/>
                    <a:pt x="671438" y="1341654"/>
                  </a:cubicBezTo>
                  <a:lnTo>
                    <a:pt x="671438" y="1341731"/>
                  </a:lnTo>
                  <a:lnTo>
                    <a:pt x="671235" y="1341654"/>
                  </a:lnTo>
                  <a:cubicBezTo>
                    <a:pt x="671032" y="1571537"/>
                    <a:pt x="552554" y="1795019"/>
                    <a:pt x="340654" y="1919771"/>
                  </a:cubicBezTo>
                  <a:cubicBezTo>
                    <a:pt x="236398" y="1978609"/>
                    <a:pt x="149886" y="2064406"/>
                    <a:pt x="90185" y="2168170"/>
                  </a:cubicBezTo>
                  <a:cubicBezTo>
                    <a:pt x="-33970" y="2383232"/>
                    <a:pt x="-25525" y="2638388"/>
                    <a:pt x="90147" y="2839111"/>
                  </a:cubicBezTo>
                  <a:lnTo>
                    <a:pt x="90109" y="2839111"/>
                  </a:lnTo>
                  <a:cubicBezTo>
                    <a:pt x="205691" y="3039797"/>
                    <a:pt x="214137" y="3294978"/>
                    <a:pt x="89982" y="3510014"/>
                  </a:cubicBezTo>
                  <a:cubicBezTo>
                    <a:pt x="-95248" y="3830867"/>
                    <a:pt x="14658" y="4241153"/>
                    <a:pt x="335549" y="4426434"/>
                  </a:cubicBezTo>
                  <a:lnTo>
                    <a:pt x="335587" y="4426472"/>
                  </a:lnTo>
                  <a:lnTo>
                    <a:pt x="335460" y="4426561"/>
                  </a:lnTo>
                  <a:cubicBezTo>
                    <a:pt x="535980" y="4542499"/>
                    <a:pt x="670829" y="4759313"/>
                    <a:pt x="670829" y="5007611"/>
                  </a:cubicBezTo>
                  <a:cubicBezTo>
                    <a:pt x="670829" y="5378134"/>
                    <a:pt x="971171" y="5678476"/>
                    <a:pt x="1341681" y="5678476"/>
                  </a:cubicBezTo>
                  <a:cubicBezTo>
                    <a:pt x="1589991" y="5678476"/>
                    <a:pt x="1806717" y="5813362"/>
                    <a:pt x="1922782" y="6013883"/>
                  </a:cubicBezTo>
                  <a:cubicBezTo>
                    <a:pt x="2038771" y="6214314"/>
                    <a:pt x="2255573" y="6349290"/>
                    <a:pt x="2503845" y="6349290"/>
                  </a:cubicBezTo>
                  <a:cubicBezTo>
                    <a:pt x="2623437" y="6349444"/>
                    <a:pt x="2740879" y="6317498"/>
                    <a:pt x="2843913" y="6256783"/>
                  </a:cubicBezTo>
                  <a:cubicBezTo>
                    <a:pt x="3057946" y="6135409"/>
                    <a:pt x="3310943" y="6144502"/>
                    <a:pt x="3510231" y="6259361"/>
                  </a:cubicBezTo>
                  <a:lnTo>
                    <a:pt x="3510231" y="6259120"/>
                  </a:lnTo>
                  <a:lnTo>
                    <a:pt x="3510270" y="6259196"/>
                  </a:lnTo>
                  <a:cubicBezTo>
                    <a:pt x="3831160" y="6444438"/>
                    <a:pt x="4241447" y="6334482"/>
                    <a:pt x="4426740" y="6013629"/>
                  </a:cubicBezTo>
                  <a:cubicBezTo>
                    <a:pt x="4550882" y="5798630"/>
                    <a:pt x="4776066" y="5678311"/>
                    <a:pt x="5007714" y="5678145"/>
                  </a:cubicBezTo>
                  <a:lnTo>
                    <a:pt x="5007663" y="5678057"/>
                  </a:lnTo>
                  <a:cubicBezTo>
                    <a:pt x="5239311" y="5677892"/>
                    <a:pt x="5464533" y="5557572"/>
                    <a:pt x="5588637" y="5342573"/>
                  </a:cubicBezTo>
                  <a:cubicBezTo>
                    <a:pt x="5649762" y="5236719"/>
                    <a:pt x="5678769" y="5121098"/>
                    <a:pt x="5678642" y="5007078"/>
                  </a:cubicBezTo>
                  <a:lnTo>
                    <a:pt x="5678731" y="5007154"/>
                  </a:lnTo>
                  <a:cubicBezTo>
                    <a:pt x="5678934" y="4783710"/>
                    <a:pt x="5790897" y="4566222"/>
                    <a:pt x="5991811" y="4439692"/>
                  </a:cubicBezTo>
                  <a:cubicBezTo>
                    <a:pt x="6100117" y="4382745"/>
                    <a:pt x="6194110" y="4295484"/>
                    <a:pt x="6259781" y="4181730"/>
                  </a:cubicBezTo>
                  <a:cubicBezTo>
                    <a:pt x="6383975" y="3966617"/>
                    <a:pt x="6375529" y="3711436"/>
                    <a:pt x="6259870" y="3510751"/>
                  </a:cubicBezTo>
                  <a:lnTo>
                    <a:pt x="6259908" y="3510751"/>
                  </a:lnTo>
                  <a:cubicBezTo>
                    <a:pt x="6144287" y="3310066"/>
                    <a:pt x="6135829" y="3054884"/>
                    <a:pt x="6259997" y="2839835"/>
                  </a:cubicBezTo>
                  <a:cubicBezTo>
                    <a:pt x="6445278" y="2518944"/>
                    <a:pt x="6335321" y="2108696"/>
                    <a:pt x="6014430" y="1923416"/>
                  </a:cubicBezTo>
                  <a:lnTo>
                    <a:pt x="6014379" y="1923365"/>
                  </a:lnTo>
                  <a:lnTo>
                    <a:pt x="6014506" y="1923327"/>
                  </a:lnTo>
                  <a:cubicBezTo>
                    <a:pt x="5815599" y="1808240"/>
                    <a:pt x="5681309" y="1593953"/>
                    <a:pt x="5679188" y="1348131"/>
                  </a:cubicBezTo>
                  <a:cubicBezTo>
                    <a:pt x="5680356" y="1232130"/>
                    <a:pt x="5651438" y="1114401"/>
                    <a:pt x="5589297" y="1006730"/>
                  </a:cubicBezTo>
                </a:path>
              </a:pathLst>
            </a:custGeom>
            <a:blipFill>
              <a:blip r:embed="rId4"/>
              <a:stretch>
                <a:fillRect t="-25055" b="-25055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0020583" y="5406666"/>
            <a:ext cx="2960881" cy="2960544"/>
            <a:chOff x="0" y="0"/>
            <a:chExt cx="6350013" cy="6349289"/>
          </a:xfrm>
        </p:grpSpPr>
        <p:sp>
          <p:nvSpPr>
            <p:cNvPr id="8" name="Freeform 8"/>
            <p:cNvSpPr/>
            <p:nvPr/>
          </p:nvSpPr>
          <p:spPr>
            <a:xfrm>
              <a:off x="-2" y="-1"/>
              <a:ext cx="6350000" cy="6349290"/>
            </a:xfrm>
            <a:custGeom>
              <a:avLst/>
              <a:gdLst/>
              <a:ahLst/>
              <a:cxnLst/>
              <a:rect l="l" t="t" r="r" b="b"/>
              <a:pathLst>
                <a:path w="6350000" h="6349290">
                  <a:moveTo>
                    <a:pt x="5589297" y="1006730"/>
                  </a:moveTo>
                  <a:cubicBezTo>
                    <a:pt x="5465117" y="791694"/>
                    <a:pt x="5239933" y="671386"/>
                    <a:pt x="5008285" y="671221"/>
                  </a:cubicBezTo>
                  <a:lnTo>
                    <a:pt x="5008323" y="671183"/>
                  </a:lnTo>
                  <a:cubicBezTo>
                    <a:pt x="4776675" y="670980"/>
                    <a:pt x="4551453" y="550686"/>
                    <a:pt x="4427311" y="335675"/>
                  </a:cubicBezTo>
                  <a:cubicBezTo>
                    <a:pt x="4242069" y="14784"/>
                    <a:pt x="3831782" y="-95135"/>
                    <a:pt x="3510892" y="90146"/>
                  </a:cubicBezTo>
                  <a:lnTo>
                    <a:pt x="3510841" y="90184"/>
                  </a:lnTo>
                  <a:lnTo>
                    <a:pt x="3510841" y="89980"/>
                  </a:lnTo>
                  <a:cubicBezTo>
                    <a:pt x="3311540" y="204801"/>
                    <a:pt x="3058606" y="213894"/>
                    <a:pt x="2844523" y="92495"/>
                  </a:cubicBezTo>
                  <a:cubicBezTo>
                    <a:pt x="2741495" y="31767"/>
                    <a:pt x="2624048" y="-177"/>
                    <a:pt x="2504455" y="1"/>
                  </a:cubicBezTo>
                  <a:cubicBezTo>
                    <a:pt x="2256157" y="1"/>
                    <a:pt x="2039393" y="134913"/>
                    <a:pt x="1923366" y="335433"/>
                  </a:cubicBezTo>
                  <a:lnTo>
                    <a:pt x="1923366" y="335395"/>
                  </a:lnTo>
                  <a:cubicBezTo>
                    <a:pt x="1807377" y="535877"/>
                    <a:pt x="1590563" y="670790"/>
                    <a:pt x="1342303" y="670790"/>
                  </a:cubicBezTo>
                  <a:cubicBezTo>
                    <a:pt x="971781" y="670790"/>
                    <a:pt x="671438" y="971132"/>
                    <a:pt x="671438" y="1341654"/>
                  </a:cubicBezTo>
                  <a:lnTo>
                    <a:pt x="671438" y="1341731"/>
                  </a:lnTo>
                  <a:lnTo>
                    <a:pt x="671235" y="1341654"/>
                  </a:lnTo>
                  <a:cubicBezTo>
                    <a:pt x="671032" y="1571537"/>
                    <a:pt x="552554" y="1795019"/>
                    <a:pt x="340654" y="1919771"/>
                  </a:cubicBezTo>
                  <a:cubicBezTo>
                    <a:pt x="236398" y="1978609"/>
                    <a:pt x="149886" y="2064406"/>
                    <a:pt x="90185" y="2168170"/>
                  </a:cubicBezTo>
                  <a:cubicBezTo>
                    <a:pt x="-33970" y="2383232"/>
                    <a:pt x="-25525" y="2638388"/>
                    <a:pt x="90147" y="2839111"/>
                  </a:cubicBezTo>
                  <a:lnTo>
                    <a:pt x="90109" y="2839111"/>
                  </a:lnTo>
                  <a:cubicBezTo>
                    <a:pt x="205691" y="3039797"/>
                    <a:pt x="214137" y="3294978"/>
                    <a:pt x="89982" y="3510014"/>
                  </a:cubicBezTo>
                  <a:cubicBezTo>
                    <a:pt x="-95248" y="3830867"/>
                    <a:pt x="14658" y="4241153"/>
                    <a:pt x="335549" y="4426434"/>
                  </a:cubicBezTo>
                  <a:lnTo>
                    <a:pt x="335587" y="4426472"/>
                  </a:lnTo>
                  <a:lnTo>
                    <a:pt x="335460" y="4426561"/>
                  </a:lnTo>
                  <a:cubicBezTo>
                    <a:pt x="535980" y="4542499"/>
                    <a:pt x="670829" y="4759313"/>
                    <a:pt x="670829" y="5007611"/>
                  </a:cubicBezTo>
                  <a:cubicBezTo>
                    <a:pt x="670829" y="5378134"/>
                    <a:pt x="971171" y="5678476"/>
                    <a:pt x="1341681" y="5678476"/>
                  </a:cubicBezTo>
                  <a:cubicBezTo>
                    <a:pt x="1589991" y="5678476"/>
                    <a:pt x="1806717" y="5813362"/>
                    <a:pt x="1922782" y="6013883"/>
                  </a:cubicBezTo>
                  <a:cubicBezTo>
                    <a:pt x="2038771" y="6214314"/>
                    <a:pt x="2255573" y="6349290"/>
                    <a:pt x="2503845" y="6349290"/>
                  </a:cubicBezTo>
                  <a:cubicBezTo>
                    <a:pt x="2623437" y="6349444"/>
                    <a:pt x="2740879" y="6317498"/>
                    <a:pt x="2843913" y="6256783"/>
                  </a:cubicBezTo>
                  <a:cubicBezTo>
                    <a:pt x="3057946" y="6135409"/>
                    <a:pt x="3310943" y="6144502"/>
                    <a:pt x="3510231" y="6259361"/>
                  </a:cubicBezTo>
                  <a:lnTo>
                    <a:pt x="3510231" y="6259120"/>
                  </a:lnTo>
                  <a:lnTo>
                    <a:pt x="3510270" y="6259196"/>
                  </a:lnTo>
                  <a:cubicBezTo>
                    <a:pt x="3831160" y="6444438"/>
                    <a:pt x="4241447" y="6334482"/>
                    <a:pt x="4426740" y="6013629"/>
                  </a:cubicBezTo>
                  <a:cubicBezTo>
                    <a:pt x="4550882" y="5798630"/>
                    <a:pt x="4776066" y="5678311"/>
                    <a:pt x="5007714" y="5678145"/>
                  </a:cubicBezTo>
                  <a:lnTo>
                    <a:pt x="5007663" y="5678057"/>
                  </a:lnTo>
                  <a:cubicBezTo>
                    <a:pt x="5239311" y="5677892"/>
                    <a:pt x="5464533" y="5557572"/>
                    <a:pt x="5588637" y="5342573"/>
                  </a:cubicBezTo>
                  <a:cubicBezTo>
                    <a:pt x="5649762" y="5236719"/>
                    <a:pt x="5678769" y="5121098"/>
                    <a:pt x="5678642" y="5007078"/>
                  </a:cubicBezTo>
                  <a:lnTo>
                    <a:pt x="5678731" y="5007154"/>
                  </a:lnTo>
                  <a:cubicBezTo>
                    <a:pt x="5678934" y="4783710"/>
                    <a:pt x="5790897" y="4566222"/>
                    <a:pt x="5991811" y="4439692"/>
                  </a:cubicBezTo>
                  <a:cubicBezTo>
                    <a:pt x="6100117" y="4382745"/>
                    <a:pt x="6194110" y="4295484"/>
                    <a:pt x="6259781" y="4181730"/>
                  </a:cubicBezTo>
                  <a:cubicBezTo>
                    <a:pt x="6383975" y="3966617"/>
                    <a:pt x="6375529" y="3711436"/>
                    <a:pt x="6259870" y="3510751"/>
                  </a:cubicBezTo>
                  <a:lnTo>
                    <a:pt x="6259908" y="3510751"/>
                  </a:lnTo>
                  <a:cubicBezTo>
                    <a:pt x="6144287" y="3310066"/>
                    <a:pt x="6135829" y="3054884"/>
                    <a:pt x="6259997" y="2839835"/>
                  </a:cubicBezTo>
                  <a:cubicBezTo>
                    <a:pt x="6445278" y="2518944"/>
                    <a:pt x="6335321" y="2108696"/>
                    <a:pt x="6014430" y="1923416"/>
                  </a:cubicBezTo>
                  <a:lnTo>
                    <a:pt x="6014379" y="1923365"/>
                  </a:lnTo>
                  <a:lnTo>
                    <a:pt x="6014506" y="1923327"/>
                  </a:lnTo>
                  <a:cubicBezTo>
                    <a:pt x="5815599" y="1808240"/>
                    <a:pt x="5681309" y="1593953"/>
                    <a:pt x="5679188" y="1348131"/>
                  </a:cubicBezTo>
                  <a:cubicBezTo>
                    <a:pt x="5680356" y="1232130"/>
                    <a:pt x="5651438" y="1114401"/>
                    <a:pt x="5589297" y="1006730"/>
                  </a:cubicBezTo>
                </a:path>
              </a:pathLst>
            </a:custGeom>
            <a:blipFill>
              <a:blip r:embed="rId5"/>
              <a:stretch>
                <a:fillRect t="-24367" b="-24367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965840" y="64793"/>
            <a:ext cx="1370856" cy="1368114"/>
          </a:xfrm>
          <a:custGeom>
            <a:avLst/>
            <a:gdLst/>
            <a:ahLst/>
            <a:cxnLst/>
            <a:rect l="l" t="t" r="r" b="b"/>
            <a:pathLst>
              <a:path w="1370856" h="1368114">
                <a:moveTo>
                  <a:pt x="0" y="0"/>
                </a:moveTo>
                <a:lnTo>
                  <a:pt x="1370855" y="0"/>
                </a:lnTo>
                <a:lnTo>
                  <a:pt x="1370855" y="1368114"/>
                </a:lnTo>
                <a:lnTo>
                  <a:pt x="0" y="13681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350463" y="7817279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0"/>
                </a:moveTo>
                <a:lnTo>
                  <a:pt x="5826379" y="0"/>
                </a:lnTo>
                <a:lnTo>
                  <a:pt x="5826379" y="3411081"/>
                </a:lnTo>
                <a:lnTo>
                  <a:pt x="0" y="341108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 flipV="1">
            <a:off x="12468442" y="0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4537971" y="5406666"/>
            <a:ext cx="2883149" cy="2960544"/>
            <a:chOff x="0" y="0"/>
            <a:chExt cx="6183305" cy="6349289"/>
          </a:xfrm>
        </p:grpSpPr>
        <p:sp>
          <p:nvSpPr>
            <p:cNvPr id="13" name="Freeform 13"/>
            <p:cNvSpPr/>
            <p:nvPr/>
          </p:nvSpPr>
          <p:spPr>
            <a:xfrm>
              <a:off x="-1113" y="-1"/>
              <a:ext cx="6185516" cy="6349290"/>
            </a:xfrm>
            <a:custGeom>
              <a:avLst/>
              <a:gdLst/>
              <a:ahLst/>
              <a:cxnLst/>
              <a:rect l="l" t="t" r="r" b="b"/>
              <a:pathLst>
                <a:path w="6185516" h="6349290">
                  <a:moveTo>
                    <a:pt x="5443672" y="1006730"/>
                  </a:moveTo>
                  <a:cubicBezTo>
                    <a:pt x="5322751" y="791694"/>
                    <a:pt x="5103479" y="671386"/>
                    <a:pt x="4877913" y="671221"/>
                  </a:cubicBezTo>
                  <a:lnTo>
                    <a:pt x="4877950" y="671183"/>
                  </a:lnTo>
                  <a:cubicBezTo>
                    <a:pt x="4652384" y="670980"/>
                    <a:pt x="4433075" y="550686"/>
                    <a:pt x="4312191" y="335675"/>
                  </a:cubicBezTo>
                  <a:cubicBezTo>
                    <a:pt x="4131812" y="14784"/>
                    <a:pt x="3732297" y="-95135"/>
                    <a:pt x="3419831" y="90146"/>
                  </a:cubicBezTo>
                  <a:lnTo>
                    <a:pt x="3419781" y="90184"/>
                  </a:lnTo>
                  <a:lnTo>
                    <a:pt x="3419781" y="89980"/>
                  </a:lnTo>
                  <a:cubicBezTo>
                    <a:pt x="3225712" y="204801"/>
                    <a:pt x="2979419" y="213894"/>
                    <a:pt x="2770956" y="92495"/>
                  </a:cubicBezTo>
                  <a:cubicBezTo>
                    <a:pt x="2670633" y="31767"/>
                    <a:pt x="2556270" y="-177"/>
                    <a:pt x="2439816" y="1"/>
                  </a:cubicBezTo>
                  <a:cubicBezTo>
                    <a:pt x="2198037" y="1"/>
                    <a:pt x="1986964" y="134913"/>
                    <a:pt x="1873983" y="335433"/>
                  </a:cubicBezTo>
                  <a:lnTo>
                    <a:pt x="1873983" y="335395"/>
                  </a:lnTo>
                  <a:cubicBezTo>
                    <a:pt x="1761039" y="535877"/>
                    <a:pt x="1549917" y="670790"/>
                    <a:pt x="1308175" y="670790"/>
                  </a:cubicBezTo>
                  <a:cubicBezTo>
                    <a:pt x="947379" y="670790"/>
                    <a:pt x="654922" y="971132"/>
                    <a:pt x="654922" y="1341654"/>
                  </a:cubicBezTo>
                  <a:lnTo>
                    <a:pt x="654922" y="1341731"/>
                  </a:lnTo>
                  <a:lnTo>
                    <a:pt x="654724" y="1341654"/>
                  </a:lnTo>
                  <a:cubicBezTo>
                    <a:pt x="654526" y="1571537"/>
                    <a:pt x="539158" y="1795019"/>
                    <a:pt x="332822" y="1919771"/>
                  </a:cubicBezTo>
                  <a:cubicBezTo>
                    <a:pt x="231302" y="1978609"/>
                    <a:pt x="147062" y="2064406"/>
                    <a:pt x="88928" y="2168170"/>
                  </a:cubicBezTo>
                  <a:cubicBezTo>
                    <a:pt x="-32859" y="2383232"/>
                    <a:pt x="-24414" y="2638388"/>
                    <a:pt x="88891" y="2839111"/>
                  </a:cubicBezTo>
                  <a:lnTo>
                    <a:pt x="88854" y="2839111"/>
                  </a:lnTo>
                  <a:cubicBezTo>
                    <a:pt x="201402" y="3039797"/>
                    <a:pt x="209626" y="3294978"/>
                    <a:pt x="88730" y="3510014"/>
                  </a:cubicBezTo>
                  <a:cubicBezTo>
                    <a:pt x="-94137" y="3830867"/>
                    <a:pt x="15384" y="4241153"/>
                    <a:pt x="327851" y="4426434"/>
                  </a:cubicBezTo>
                  <a:lnTo>
                    <a:pt x="327888" y="4426472"/>
                  </a:lnTo>
                  <a:lnTo>
                    <a:pt x="327764" y="4426561"/>
                  </a:lnTo>
                  <a:cubicBezTo>
                    <a:pt x="523020" y="4542499"/>
                    <a:pt x="654328" y="4759313"/>
                    <a:pt x="654328" y="5007611"/>
                  </a:cubicBezTo>
                  <a:cubicBezTo>
                    <a:pt x="654328" y="5378134"/>
                    <a:pt x="946786" y="5678476"/>
                    <a:pt x="1307569" y="5678476"/>
                  </a:cubicBezTo>
                  <a:cubicBezTo>
                    <a:pt x="1549360" y="5678476"/>
                    <a:pt x="1760396" y="5813362"/>
                    <a:pt x="1873414" y="6013883"/>
                  </a:cubicBezTo>
                  <a:cubicBezTo>
                    <a:pt x="1986358" y="6214314"/>
                    <a:pt x="2197468" y="6349290"/>
                    <a:pt x="2439222" y="6349290"/>
                  </a:cubicBezTo>
                  <a:cubicBezTo>
                    <a:pt x="2555675" y="6349444"/>
                    <a:pt x="2670033" y="6317498"/>
                    <a:pt x="2770363" y="6256783"/>
                  </a:cubicBezTo>
                  <a:cubicBezTo>
                    <a:pt x="2978777" y="6135409"/>
                    <a:pt x="3225131" y="6144502"/>
                    <a:pt x="3419188" y="6259361"/>
                  </a:cubicBezTo>
                  <a:lnTo>
                    <a:pt x="3419188" y="6259120"/>
                  </a:lnTo>
                  <a:lnTo>
                    <a:pt x="3419225" y="6259196"/>
                  </a:lnTo>
                  <a:cubicBezTo>
                    <a:pt x="3731691" y="6444438"/>
                    <a:pt x="4131206" y="6334482"/>
                    <a:pt x="4311635" y="6013629"/>
                  </a:cubicBezTo>
                  <a:cubicBezTo>
                    <a:pt x="4432518" y="5798630"/>
                    <a:pt x="4651790" y="5678311"/>
                    <a:pt x="4877357" y="5678145"/>
                  </a:cubicBezTo>
                  <a:lnTo>
                    <a:pt x="4877307" y="5678057"/>
                  </a:lnTo>
                  <a:cubicBezTo>
                    <a:pt x="5102874" y="5677892"/>
                    <a:pt x="5322183" y="5557572"/>
                    <a:pt x="5443029" y="5342573"/>
                  </a:cubicBezTo>
                  <a:cubicBezTo>
                    <a:pt x="5502549" y="5236719"/>
                    <a:pt x="5530794" y="5121098"/>
                    <a:pt x="5530671" y="5007078"/>
                  </a:cubicBezTo>
                  <a:lnTo>
                    <a:pt x="5530758" y="5007154"/>
                  </a:lnTo>
                  <a:cubicBezTo>
                    <a:pt x="5530955" y="4783710"/>
                    <a:pt x="5639979" y="4566222"/>
                    <a:pt x="5835618" y="4439692"/>
                  </a:cubicBezTo>
                  <a:cubicBezTo>
                    <a:pt x="5941081" y="4382745"/>
                    <a:pt x="6032606" y="4295484"/>
                    <a:pt x="6096553" y="4181730"/>
                  </a:cubicBezTo>
                  <a:cubicBezTo>
                    <a:pt x="6218378" y="3966617"/>
                    <a:pt x="6209932" y="3711436"/>
                    <a:pt x="6096640" y="3510751"/>
                  </a:cubicBezTo>
                  <a:lnTo>
                    <a:pt x="6096677" y="3510751"/>
                  </a:lnTo>
                  <a:cubicBezTo>
                    <a:pt x="5984092" y="3310066"/>
                    <a:pt x="5975856" y="3054884"/>
                    <a:pt x="6096764" y="2839835"/>
                  </a:cubicBezTo>
                  <a:cubicBezTo>
                    <a:pt x="6279681" y="2518944"/>
                    <a:pt x="6170110" y="2108696"/>
                    <a:pt x="5857644" y="1923416"/>
                  </a:cubicBezTo>
                  <a:lnTo>
                    <a:pt x="5857594" y="1923365"/>
                  </a:lnTo>
                  <a:lnTo>
                    <a:pt x="5857718" y="1923327"/>
                  </a:lnTo>
                  <a:cubicBezTo>
                    <a:pt x="5664032" y="1808240"/>
                    <a:pt x="5533268" y="1593953"/>
                    <a:pt x="5531203" y="1348131"/>
                  </a:cubicBezTo>
                  <a:cubicBezTo>
                    <a:pt x="5532340" y="1232130"/>
                    <a:pt x="5504182" y="1114401"/>
                    <a:pt x="5443672" y="1006730"/>
                  </a:cubicBezTo>
                </a:path>
              </a:pathLst>
            </a:custGeom>
            <a:blipFill>
              <a:blip r:embed="rId9"/>
              <a:stretch>
                <a:fillRect l="-1369" t="-16726" r="-1369" b="-16726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1782708" y="1432907"/>
            <a:ext cx="2960881" cy="2960544"/>
            <a:chOff x="0" y="0"/>
            <a:chExt cx="6350013" cy="6349289"/>
          </a:xfrm>
        </p:grpSpPr>
        <p:sp>
          <p:nvSpPr>
            <p:cNvPr id="15" name="Freeform 15"/>
            <p:cNvSpPr/>
            <p:nvPr/>
          </p:nvSpPr>
          <p:spPr>
            <a:xfrm>
              <a:off x="-2" y="-1"/>
              <a:ext cx="6350000" cy="6349290"/>
            </a:xfrm>
            <a:custGeom>
              <a:avLst/>
              <a:gdLst/>
              <a:ahLst/>
              <a:cxnLst/>
              <a:rect l="l" t="t" r="r" b="b"/>
              <a:pathLst>
                <a:path w="6350000" h="6349290">
                  <a:moveTo>
                    <a:pt x="5589297" y="1006730"/>
                  </a:moveTo>
                  <a:cubicBezTo>
                    <a:pt x="5465117" y="791694"/>
                    <a:pt x="5239933" y="671386"/>
                    <a:pt x="5008285" y="671221"/>
                  </a:cubicBezTo>
                  <a:lnTo>
                    <a:pt x="5008323" y="671183"/>
                  </a:lnTo>
                  <a:cubicBezTo>
                    <a:pt x="4776675" y="670980"/>
                    <a:pt x="4551453" y="550686"/>
                    <a:pt x="4427311" y="335675"/>
                  </a:cubicBezTo>
                  <a:cubicBezTo>
                    <a:pt x="4242069" y="14784"/>
                    <a:pt x="3831782" y="-95135"/>
                    <a:pt x="3510892" y="90146"/>
                  </a:cubicBezTo>
                  <a:lnTo>
                    <a:pt x="3510841" y="90184"/>
                  </a:lnTo>
                  <a:lnTo>
                    <a:pt x="3510841" y="89980"/>
                  </a:lnTo>
                  <a:cubicBezTo>
                    <a:pt x="3311540" y="204801"/>
                    <a:pt x="3058606" y="213894"/>
                    <a:pt x="2844523" y="92495"/>
                  </a:cubicBezTo>
                  <a:cubicBezTo>
                    <a:pt x="2741495" y="31767"/>
                    <a:pt x="2624048" y="-177"/>
                    <a:pt x="2504455" y="1"/>
                  </a:cubicBezTo>
                  <a:cubicBezTo>
                    <a:pt x="2256157" y="1"/>
                    <a:pt x="2039393" y="134913"/>
                    <a:pt x="1923366" y="335433"/>
                  </a:cubicBezTo>
                  <a:lnTo>
                    <a:pt x="1923366" y="335395"/>
                  </a:lnTo>
                  <a:cubicBezTo>
                    <a:pt x="1807377" y="535877"/>
                    <a:pt x="1590563" y="670790"/>
                    <a:pt x="1342303" y="670790"/>
                  </a:cubicBezTo>
                  <a:cubicBezTo>
                    <a:pt x="971781" y="670790"/>
                    <a:pt x="671438" y="971132"/>
                    <a:pt x="671438" y="1341654"/>
                  </a:cubicBezTo>
                  <a:lnTo>
                    <a:pt x="671438" y="1341731"/>
                  </a:lnTo>
                  <a:lnTo>
                    <a:pt x="671235" y="1341654"/>
                  </a:lnTo>
                  <a:cubicBezTo>
                    <a:pt x="671032" y="1571537"/>
                    <a:pt x="552554" y="1795019"/>
                    <a:pt x="340654" y="1919771"/>
                  </a:cubicBezTo>
                  <a:cubicBezTo>
                    <a:pt x="236398" y="1978609"/>
                    <a:pt x="149886" y="2064406"/>
                    <a:pt x="90185" y="2168170"/>
                  </a:cubicBezTo>
                  <a:cubicBezTo>
                    <a:pt x="-33970" y="2383232"/>
                    <a:pt x="-25525" y="2638388"/>
                    <a:pt x="90147" y="2839111"/>
                  </a:cubicBezTo>
                  <a:lnTo>
                    <a:pt x="90109" y="2839111"/>
                  </a:lnTo>
                  <a:cubicBezTo>
                    <a:pt x="205691" y="3039797"/>
                    <a:pt x="214137" y="3294978"/>
                    <a:pt x="89982" y="3510014"/>
                  </a:cubicBezTo>
                  <a:cubicBezTo>
                    <a:pt x="-95248" y="3830867"/>
                    <a:pt x="14658" y="4241153"/>
                    <a:pt x="335549" y="4426434"/>
                  </a:cubicBezTo>
                  <a:lnTo>
                    <a:pt x="335587" y="4426472"/>
                  </a:lnTo>
                  <a:lnTo>
                    <a:pt x="335460" y="4426561"/>
                  </a:lnTo>
                  <a:cubicBezTo>
                    <a:pt x="535980" y="4542499"/>
                    <a:pt x="670829" y="4759313"/>
                    <a:pt x="670829" y="5007611"/>
                  </a:cubicBezTo>
                  <a:cubicBezTo>
                    <a:pt x="670829" y="5378134"/>
                    <a:pt x="971171" y="5678476"/>
                    <a:pt x="1341681" y="5678476"/>
                  </a:cubicBezTo>
                  <a:cubicBezTo>
                    <a:pt x="1589991" y="5678476"/>
                    <a:pt x="1806717" y="5813362"/>
                    <a:pt x="1922782" y="6013883"/>
                  </a:cubicBezTo>
                  <a:cubicBezTo>
                    <a:pt x="2038771" y="6214314"/>
                    <a:pt x="2255573" y="6349290"/>
                    <a:pt x="2503845" y="6349290"/>
                  </a:cubicBezTo>
                  <a:cubicBezTo>
                    <a:pt x="2623437" y="6349444"/>
                    <a:pt x="2740879" y="6317498"/>
                    <a:pt x="2843913" y="6256783"/>
                  </a:cubicBezTo>
                  <a:cubicBezTo>
                    <a:pt x="3057946" y="6135409"/>
                    <a:pt x="3310943" y="6144502"/>
                    <a:pt x="3510231" y="6259361"/>
                  </a:cubicBezTo>
                  <a:lnTo>
                    <a:pt x="3510231" y="6259120"/>
                  </a:lnTo>
                  <a:lnTo>
                    <a:pt x="3510270" y="6259196"/>
                  </a:lnTo>
                  <a:cubicBezTo>
                    <a:pt x="3831160" y="6444438"/>
                    <a:pt x="4241447" y="6334482"/>
                    <a:pt x="4426740" y="6013629"/>
                  </a:cubicBezTo>
                  <a:cubicBezTo>
                    <a:pt x="4550882" y="5798630"/>
                    <a:pt x="4776066" y="5678311"/>
                    <a:pt x="5007714" y="5678145"/>
                  </a:cubicBezTo>
                  <a:lnTo>
                    <a:pt x="5007663" y="5678057"/>
                  </a:lnTo>
                  <a:cubicBezTo>
                    <a:pt x="5239311" y="5677892"/>
                    <a:pt x="5464533" y="5557572"/>
                    <a:pt x="5588637" y="5342573"/>
                  </a:cubicBezTo>
                  <a:cubicBezTo>
                    <a:pt x="5649762" y="5236719"/>
                    <a:pt x="5678769" y="5121098"/>
                    <a:pt x="5678642" y="5007078"/>
                  </a:cubicBezTo>
                  <a:lnTo>
                    <a:pt x="5678731" y="5007154"/>
                  </a:lnTo>
                  <a:cubicBezTo>
                    <a:pt x="5678934" y="4783710"/>
                    <a:pt x="5790897" y="4566222"/>
                    <a:pt x="5991811" y="4439692"/>
                  </a:cubicBezTo>
                  <a:cubicBezTo>
                    <a:pt x="6100117" y="4382745"/>
                    <a:pt x="6194110" y="4295484"/>
                    <a:pt x="6259781" y="4181730"/>
                  </a:cubicBezTo>
                  <a:cubicBezTo>
                    <a:pt x="6383975" y="3966617"/>
                    <a:pt x="6375529" y="3711436"/>
                    <a:pt x="6259870" y="3510751"/>
                  </a:cubicBezTo>
                  <a:lnTo>
                    <a:pt x="6259908" y="3510751"/>
                  </a:lnTo>
                  <a:cubicBezTo>
                    <a:pt x="6144287" y="3310066"/>
                    <a:pt x="6135829" y="3054884"/>
                    <a:pt x="6259997" y="2839835"/>
                  </a:cubicBezTo>
                  <a:cubicBezTo>
                    <a:pt x="6445278" y="2518944"/>
                    <a:pt x="6335321" y="2108696"/>
                    <a:pt x="6014430" y="1923416"/>
                  </a:cubicBezTo>
                  <a:lnTo>
                    <a:pt x="6014379" y="1923365"/>
                  </a:lnTo>
                  <a:lnTo>
                    <a:pt x="6014506" y="1923327"/>
                  </a:lnTo>
                  <a:cubicBezTo>
                    <a:pt x="5815599" y="1808240"/>
                    <a:pt x="5681309" y="1593953"/>
                    <a:pt x="5679188" y="1348131"/>
                  </a:cubicBezTo>
                  <a:cubicBezTo>
                    <a:pt x="5680356" y="1232130"/>
                    <a:pt x="5651438" y="1114401"/>
                    <a:pt x="5589297" y="1006730"/>
                  </a:cubicBezTo>
                </a:path>
              </a:pathLst>
            </a:custGeom>
            <a:blipFill>
              <a:blip r:embed="rId10"/>
              <a:stretch>
                <a:fillRect t="-16674" b="-16674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2387614" y="191149"/>
            <a:ext cx="6756386" cy="967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TEAM MEMBERS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36695" y="4355351"/>
            <a:ext cx="2960881" cy="115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>
                <a:solidFill>
                  <a:srgbClr val="004A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Lim Shang Wen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4A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Leader / Database Developer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763658" y="4355351"/>
            <a:ext cx="2960881" cy="763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>
                <a:solidFill>
                  <a:srgbClr val="004A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Teoh Jia Xin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4A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Back-end developer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12102" y="4522674"/>
            <a:ext cx="3145787" cy="115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>
                <a:solidFill>
                  <a:srgbClr val="004A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Loh Kien Ee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4A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Co-Leader/ Back-end developer 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37971" y="8605335"/>
            <a:ext cx="3353805" cy="763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>
                <a:solidFill>
                  <a:srgbClr val="004A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Yew Jason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4A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Front-end developer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020583" y="8500560"/>
            <a:ext cx="3400031" cy="763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>
                <a:solidFill>
                  <a:srgbClr val="004A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Ng Ying Zhe 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4A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Front-end developer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86023" y="6580376"/>
            <a:ext cx="6331190" cy="3706624"/>
          </a:xfrm>
          <a:custGeom>
            <a:avLst/>
            <a:gdLst/>
            <a:ahLst/>
            <a:cxnLst/>
            <a:rect l="l" t="t" r="r" b="b"/>
            <a:pathLst>
              <a:path w="6331190" h="3706624">
                <a:moveTo>
                  <a:pt x="0" y="0"/>
                </a:moveTo>
                <a:lnTo>
                  <a:pt x="6331190" y="0"/>
                </a:lnTo>
                <a:lnTo>
                  <a:pt x="6331190" y="3706624"/>
                </a:lnTo>
                <a:lnTo>
                  <a:pt x="0" y="3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461620" y="0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153420" y="2859029"/>
            <a:ext cx="6386416" cy="5971278"/>
            <a:chOff x="0" y="0"/>
            <a:chExt cx="1682019" cy="157268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82019" cy="1572682"/>
            </a:xfrm>
            <a:custGeom>
              <a:avLst/>
              <a:gdLst/>
              <a:ahLst/>
              <a:cxnLst/>
              <a:rect l="l" t="t" r="r" b="b"/>
              <a:pathLst>
                <a:path w="1682019" h="1572682">
                  <a:moveTo>
                    <a:pt x="61825" y="0"/>
                  </a:moveTo>
                  <a:lnTo>
                    <a:pt x="1620194" y="0"/>
                  </a:lnTo>
                  <a:cubicBezTo>
                    <a:pt x="1654339" y="0"/>
                    <a:pt x="1682019" y="27680"/>
                    <a:pt x="1682019" y="61825"/>
                  </a:cubicBezTo>
                  <a:lnTo>
                    <a:pt x="1682019" y="1510858"/>
                  </a:lnTo>
                  <a:cubicBezTo>
                    <a:pt x="1682019" y="1545002"/>
                    <a:pt x="1654339" y="1572682"/>
                    <a:pt x="1620194" y="1572682"/>
                  </a:cubicBezTo>
                  <a:lnTo>
                    <a:pt x="61825" y="1572682"/>
                  </a:lnTo>
                  <a:cubicBezTo>
                    <a:pt x="27680" y="1572682"/>
                    <a:pt x="0" y="1545002"/>
                    <a:pt x="0" y="1510858"/>
                  </a:cubicBezTo>
                  <a:lnTo>
                    <a:pt x="0" y="61825"/>
                  </a:lnTo>
                  <a:cubicBezTo>
                    <a:pt x="0" y="27680"/>
                    <a:pt x="27680" y="0"/>
                    <a:pt x="61825" y="0"/>
                  </a:cubicBezTo>
                  <a:close/>
                </a:path>
              </a:pathLst>
            </a:custGeom>
            <a:solidFill>
              <a:srgbClr val="E9F4F3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682019" cy="16107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016098" y="2859029"/>
            <a:ext cx="6230810" cy="5971278"/>
            <a:chOff x="0" y="0"/>
            <a:chExt cx="1641036" cy="157268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41036" cy="1572682"/>
            </a:xfrm>
            <a:custGeom>
              <a:avLst/>
              <a:gdLst/>
              <a:ahLst/>
              <a:cxnLst/>
              <a:rect l="l" t="t" r="r" b="b"/>
              <a:pathLst>
                <a:path w="1641036" h="1572682">
                  <a:moveTo>
                    <a:pt x="63369" y="0"/>
                  </a:moveTo>
                  <a:lnTo>
                    <a:pt x="1577668" y="0"/>
                  </a:lnTo>
                  <a:cubicBezTo>
                    <a:pt x="1594474" y="0"/>
                    <a:pt x="1610592" y="6676"/>
                    <a:pt x="1622476" y="18560"/>
                  </a:cubicBezTo>
                  <a:cubicBezTo>
                    <a:pt x="1634360" y="30444"/>
                    <a:pt x="1641036" y="46562"/>
                    <a:pt x="1641036" y="63369"/>
                  </a:cubicBezTo>
                  <a:lnTo>
                    <a:pt x="1641036" y="1509314"/>
                  </a:lnTo>
                  <a:cubicBezTo>
                    <a:pt x="1641036" y="1544311"/>
                    <a:pt x="1612665" y="1572682"/>
                    <a:pt x="1577668" y="1572682"/>
                  </a:cubicBezTo>
                  <a:lnTo>
                    <a:pt x="63369" y="1572682"/>
                  </a:lnTo>
                  <a:cubicBezTo>
                    <a:pt x="46562" y="1572682"/>
                    <a:pt x="30444" y="1566006"/>
                    <a:pt x="18560" y="1554122"/>
                  </a:cubicBezTo>
                  <a:cubicBezTo>
                    <a:pt x="6676" y="1542238"/>
                    <a:pt x="0" y="1526120"/>
                    <a:pt x="0" y="1509314"/>
                  </a:cubicBezTo>
                  <a:lnTo>
                    <a:pt x="0" y="63369"/>
                  </a:lnTo>
                  <a:cubicBezTo>
                    <a:pt x="0" y="46562"/>
                    <a:pt x="6676" y="30444"/>
                    <a:pt x="18560" y="18560"/>
                  </a:cubicBezTo>
                  <a:cubicBezTo>
                    <a:pt x="30444" y="6676"/>
                    <a:pt x="46562" y="0"/>
                    <a:pt x="63369" y="0"/>
                  </a:cubicBezTo>
                  <a:close/>
                </a:path>
              </a:pathLst>
            </a:custGeom>
            <a:solidFill>
              <a:srgbClr val="E9F4F3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641036" cy="16107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Many students lack access to </a:t>
              </a:r>
              <a:r>
                <a:rPr lang="en-US" sz="2199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quality, affordable education</a:t>
              </a:r>
              <a:r>
                <a:rPr lang="en-US" sz="21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and </a:t>
              </a:r>
              <a:r>
                <a:rPr lang="en-US" sz="2199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personalised</a:t>
              </a:r>
              <a:r>
                <a:rPr lang="en-US" sz="21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learning support. Traditional classrooms often can’t meet every learner’s needs. Khan Academy aims to solve this by providing free, self-paced, and accessible online education for everyone worldwide.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669577" y="2014773"/>
            <a:ext cx="3086100" cy="1249131"/>
            <a:chOff x="0" y="0"/>
            <a:chExt cx="812800" cy="32898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328989"/>
            </a:xfrm>
            <a:custGeom>
              <a:avLst/>
              <a:gdLst/>
              <a:ahLst/>
              <a:cxnLst/>
              <a:rect l="l" t="t" r="r" b="b"/>
              <a:pathLst>
                <a:path w="812800" h="328989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01048"/>
                  </a:lnTo>
                  <a:cubicBezTo>
                    <a:pt x="812800" y="234980"/>
                    <a:pt x="799321" y="267523"/>
                    <a:pt x="775327" y="291516"/>
                  </a:cubicBezTo>
                  <a:cubicBezTo>
                    <a:pt x="751333" y="315510"/>
                    <a:pt x="718791" y="328989"/>
                    <a:pt x="684859" y="328989"/>
                  </a:cubicBezTo>
                  <a:lnTo>
                    <a:pt x="127941" y="328989"/>
                  </a:lnTo>
                  <a:cubicBezTo>
                    <a:pt x="94009" y="328989"/>
                    <a:pt x="61467" y="315510"/>
                    <a:pt x="37473" y="291516"/>
                  </a:cubicBezTo>
                  <a:cubicBezTo>
                    <a:pt x="13479" y="267523"/>
                    <a:pt x="0" y="234980"/>
                    <a:pt x="0" y="2010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4987E6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12800" cy="367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b="1">
                  <a:solidFill>
                    <a:srgbClr val="FFFFFF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Duolingo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448354" y="2014773"/>
            <a:ext cx="3086100" cy="1249131"/>
            <a:chOff x="0" y="0"/>
            <a:chExt cx="812800" cy="32898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328989"/>
            </a:xfrm>
            <a:custGeom>
              <a:avLst/>
              <a:gdLst/>
              <a:ahLst/>
              <a:cxnLst/>
              <a:rect l="l" t="t" r="r" b="b"/>
              <a:pathLst>
                <a:path w="812800" h="328989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01048"/>
                  </a:lnTo>
                  <a:cubicBezTo>
                    <a:pt x="812800" y="234980"/>
                    <a:pt x="799321" y="267523"/>
                    <a:pt x="775327" y="291516"/>
                  </a:cubicBezTo>
                  <a:cubicBezTo>
                    <a:pt x="751333" y="315510"/>
                    <a:pt x="718791" y="328989"/>
                    <a:pt x="684859" y="328989"/>
                  </a:cubicBezTo>
                  <a:lnTo>
                    <a:pt x="127941" y="328989"/>
                  </a:lnTo>
                  <a:cubicBezTo>
                    <a:pt x="94009" y="328989"/>
                    <a:pt x="61467" y="315510"/>
                    <a:pt x="37473" y="291516"/>
                  </a:cubicBezTo>
                  <a:cubicBezTo>
                    <a:pt x="13479" y="267523"/>
                    <a:pt x="0" y="234980"/>
                    <a:pt x="0" y="2010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4987E6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12800" cy="367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Khan Academy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782564" y="295924"/>
            <a:ext cx="1370856" cy="1368114"/>
          </a:xfrm>
          <a:custGeom>
            <a:avLst/>
            <a:gdLst/>
            <a:ahLst/>
            <a:cxnLst/>
            <a:rect l="l" t="t" r="r" b="b"/>
            <a:pathLst>
              <a:path w="1370856" h="1368114">
                <a:moveTo>
                  <a:pt x="0" y="0"/>
                </a:moveTo>
                <a:lnTo>
                  <a:pt x="1370856" y="0"/>
                </a:lnTo>
                <a:lnTo>
                  <a:pt x="1370856" y="1368114"/>
                </a:lnTo>
                <a:lnTo>
                  <a:pt x="0" y="13681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2379572" y="752533"/>
            <a:ext cx="7441238" cy="635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11"/>
              </a:lnSpc>
              <a:spcBef>
                <a:spcPct val="0"/>
              </a:spcBef>
            </a:pPr>
            <a:r>
              <a:rPr lang="en-US" sz="4176" b="1" spc="150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528625" y="4323235"/>
            <a:ext cx="5636006" cy="3564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1"/>
              </a:lnSpc>
            </a:pPr>
            <a:r>
              <a:rPr lang="en-US" sz="2199" spc="8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Learning a new language is often expensive, </a:t>
            </a:r>
            <a:r>
              <a:rPr lang="en-US" sz="2199" b="1" spc="8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time-consuming</a:t>
            </a:r>
            <a:r>
              <a:rPr lang="en-US" sz="2199" spc="8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and difficult to access for many people. Traditional methods lack motivation and flexibility. Duolingo was created to solve this by offering free, gamified, and engaging language learning that is </a:t>
            </a:r>
            <a:r>
              <a:rPr lang="en-US" sz="2199" b="1" spc="8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accessible anytime and anywhere.</a:t>
            </a:r>
          </a:p>
          <a:p>
            <a:pPr algn="l">
              <a:lnSpc>
                <a:spcPts val="2551"/>
              </a:lnSpc>
            </a:pPr>
            <a:endParaRPr lang="en-US" sz="2199" b="1" spc="85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2551"/>
              </a:lnSpc>
            </a:pPr>
            <a:endParaRPr lang="en-US" sz="2199" b="1" spc="85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86023" y="6580376"/>
            <a:ext cx="6331190" cy="3706624"/>
          </a:xfrm>
          <a:custGeom>
            <a:avLst/>
            <a:gdLst/>
            <a:ahLst/>
            <a:cxnLst/>
            <a:rect l="l" t="t" r="r" b="b"/>
            <a:pathLst>
              <a:path w="6331190" h="3706624">
                <a:moveTo>
                  <a:pt x="0" y="0"/>
                </a:moveTo>
                <a:lnTo>
                  <a:pt x="6331190" y="0"/>
                </a:lnTo>
                <a:lnTo>
                  <a:pt x="6331190" y="3706624"/>
                </a:lnTo>
                <a:lnTo>
                  <a:pt x="0" y="3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461620" y="0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153420" y="2859029"/>
            <a:ext cx="6386416" cy="5971278"/>
            <a:chOff x="0" y="0"/>
            <a:chExt cx="1682019" cy="157268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82019" cy="1572682"/>
            </a:xfrm>
            <a:custGeom>
              <a:avLst/>
              <a:gdLst/>
              <a:ahLst/>
              <a:cxnLst/>
              <a:rect l="l" t="t" r="r" b="b"/>
              <a:pathLst>
                <a:path w="1682019" h="1572682">
                  <a:moveTo>
                    <a:pt x="61825" y="0"/>
                  </a:moveTo>
                  <a:lnTo>
                    <a:pt x="1620194" y="0"/>
                  </a:lnTo>
                  <a:cubicBezTo>
                    <a:pt x="1654339" y="0"/>
                    <a:pt x="1682019" y="27680"/>
                    <a:pt x="1682019" y="61825"/>
                  </a:cubicBezTo>
                  <a:lnTo>
                    <a:pt x="1682019" y="1510858"/>
                  </a:lnTo>
                  <a:cubicBezTo>
                    <a:pt x="1682019" y="1545002"/>
                    <a:pt x="1654339" y="1572682"/>
                    <a:pt x="1620194" y="1572682"/>
                  </a:cubicBezTo>
                  <a:lnTo>
                    <a:pt x="61825" y="1572682"/>
                  </a:lnTo>
                  <a:cubicBezTo>
                    <a:pt x="27680" y="1572682"/>
                    <a:pt x="0" y="1545002"/>
                    <a:pt x="0" y="1510858"/>
                  </a:cubicBezTo>
                  <a:lnTo>
                    <a:pt x="0" y="61825"/>
                  </a:lnTo>
                  <a:cubicBezTo>
                    <a:pt x="0" y="27680"/>
                    <a:pt x="27680" y="0"/>
                    <a:pt x="61825" y="0"/>
                  </a:cubicBezTo>
                  <a:close/>
                </a:path>
              </a:pathLst>
            </a:custGeom>
            <a:solidFill>
              <a:srgbClr val="E9F4F3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682019" cy="16107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144000" y="2859029"/>
            <a:ext cx="6230810" cy="5971278"/>
            <a:chOff x="0" y="0"/>
            <a:chExt cx="1641036" cy="157268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41036" cy="1572682"/>
            </a:xfrm>
            <a:custGeom>
              <a:avLst/>
              <a:gdLst/>
              <a:ahLst/>
              <a:cxnLst/>
              <a:rect l="l" t="t" r="r" b="b"/>
              <a:pathLst>
                <a:path w="1641036" h="1572682">
                  <a:moveTo>
                    <a:pt x="63369" y="0"/>
                  </a:moveTo>
                  <a:lnTo>
                    <a:pt x="1577668" y="0"/>
                  </a:lnTo>
                  <a:cubicBezTo>
                    <a:pt x="1594474" y="0"/>
                    <a:pt x="1610592" y="6676"/>
                    <a:pt x="1622476" y="18560"/>
                  </a:cubicBezTo>
                  <a:cubicBezTo>
                    <a:pt x="1634360" y="30444"/>
                    <a:pt x="1641036" y="46562"/>
                    <a:pt x="1641036" y="63369"/>
                  </a:cubicBezTo>
                  <a:lnTo>
                    <a:pt x="1641036" y="1509314"/>
                  </a:lnTo>
                  <a:cubicBezTo>
                    <a:pt x="1641036" y="1544311"/>
                    <a:pt x="1612665" y="1572682"/>
                    <a:pt x="1577668" y="1572682"/>
                  </a:cubicBezTo>
                  <a:lnTo>
                    <a:pt x="63369" y="1572682"/>
                  </a:lnTo>
                  <a:cubicBezTo>
                    <a:pt x="46562" y="1572682"/>
                    <a:pt x="30444" y="1566006"/>
                    <a:pt x="18560" y="1554122"/>
                  </a:cubicBezTo>
                  <a:cubicBezTo>
                    <a:pt x="6676" y="1542238"/>
                    <a:pt x="0" y="1526120"/>
                    <a:pt x="0" y="1509314"/>
                  </a:cubicBezTo>
                  <a:lnTo>
                    <a:pt x="0" y="63369"/>
                  </a:lnTo>
                  <a:cubicBezTo>
                    <a:pt x="0" y="46562"/>
                    <a:pt x="6676" y="30444"/>
                    <a:pt x="18560" y="18560"/>
                  </a:cubicBezTo>
                  <a:cubicBezTo>
                    <a:pt x="30444" y="6676"/>
                    <a:pt x="46562" y="0"/>
                    <a:pt x="63369" y="0"/>
                  </a:cubicBezTo>
                  <a:close/>
                </a:path>
              </a:pathLst>
            </a:custGeom>
            <a:solidFill>
              <a:srgbClr val="E9F4F3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641036" cy="16107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079"/>
                </a:lnSpc>
              </a:pPr>
              <a:r>
                <a:rPr lang="en-US" sz="2200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Khan Academy provides:</a:t>
              </a:r>
            </a:p>
            <a:p>
              <a:pPr marL="474970" lvl="1" indent="-237485">
                <a:lnSpc>
                  <a:spcPts val="3079"/>
                </a:lnSpc>
                <a:buFont typeface="Arial"/>
                <a:buChar char="•"/>
              </a:pPr>
              <a:r>
                <a:rPr lang="en-US" sz="2200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Free educational content covering K–12 to</a:t>
              </a:r>
              <a:r>
                <a:rPr lang="en-US" sz="2200" b="1" dirty="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college-level subjects</a:t>
              </a:r>
            </a:p>
            <a:p>
              <a:pPr marL="474970" lvl="1" indent="-237485">
                <a:lnSpc>
                  <a:spcPts val="3079"/>
                </a:lnSpc>
                <a:buFont typeface="Arial"/>
                <a:buChar char="•"/>
              </a:pPr>
              <a:r>
                <a:rPr lang="en-US" sz="2200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Interactive practice exercises and quizzes</a:t>
              </a:r>
            </a:p>
            <a:p>
              <a:pPr marL="474970" lvl="1" indent="-237485">
                <a:lnSpc>
                  <a:spcPts val="3079"/>
                </a:lnSpc>
                <a:buFont typeface="Arial"/>
                <a:buChar char="•"/>
              </a:pPr>
              <a:r>
                <a:rPr lang="en-US" sz="2200" b="1" dirty="0" err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Personalised</a:t>
              </a:r>
              <a:r>
                <a:rPr lang="en-US" sz="2200" b="1" dirty="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learning dashboard</a:t>
              </a:r>
              <a:r>
                <a:rPr lang="en-US" sz="2200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for </a:t>
              </a:r>
              <a:r>
                <a:rPr lang="en-US" sz="2200" b="1" dirty="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progress </a:t>
              </a:r>
              <a:r>
                <a:rPr lang="en-US" sz="2200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tracking</a:t>
              </a:r>
            </a:p>
            <a:p>
              <a:pPr marL="474970" lvl="1" indent="-237485">
                <a:lnSpc>
                  <a:spcPts val="3079"/>
                </a:lnSpc>
                <a:buFont typeface="Arial"/>
                <a:buChar char="•"/>
              </a:pPr>
              <a:r>
                <a:rPr lang="en-US" sz="2200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Teacher dashboards to assign and monitor student progress</a:t>
              </a:r>
            </a:p>
            <a:p>
              <a:pPr marL="474970" lvl="1" indent="-237485">
                <a:lnSpc>
                  <a:spcPts val="3079"/>
                </a:lnSpc>
                <a:buFont typeface="Arial"/>
                <a:buChar char="•"/>
              </a:pPr>
              <a:r>
                <a:rPr lang="en-US" sz="2200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Available in multiple languages for global accessibility</a:t>
              </a:r>
            </a:p>
            <a:p>
              <a:pPr>
                <a:lnSpc>
                  <a:spcPts val="3079"/>
                </a:lnSpc>
              </a:pPr>
              <a:endParaRPr lang="en-US" sz="2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669577" y="2014773"/>
            <a:ext cx="3086100" cy="1249131"/>
            <a:chOff x="0" y="0"/>
            <a:chExt cx="812800" cy="32898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328989"/>
            </a:xfrm>
            <a:custGeom>
              <a:avLst/>
              <a:gdLst/>
              <a:ahLst/>
              <a:cxnLst/>
              <a:rect l="l" t="t" r="r" b="b"/>
              <a:pathLst>
                <a:path w="812800" h="328989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01048"/>
                  </a:lnTo>
                  <a:cubicBezTo>
                    <a:pt x="812800" y="234980"/>
                    <a:pt x="799321" y="267523"/>
                    <a:pt x="775327" y="291516"/>
                  </a:cubicBezTo>
                  <a:cubicBezTo>
                    <a:pt x="751333" y="315510"/>
                    <a:pt x="718791" y="328989"/>
                    <a:pt x="684859" y="328989"/>
                  </a:cubicBezTo>
                  <a:lnTo>
                    <a:pt x="127941" y="328989"/>
                  </a:lnTo>
                  <a:cubicBezTo>
                    <a:pt x="94009" y="328989"/>
                    <a:pt x="61467" y="315510"/>
                    <a:pt x="37473" y="291516"/>
                  </a:cubicBezTo>
                  <a:cubicBezTo>
                    <a:pt x="13479" y="267523"/>
                    <a:pt x="0" y="234980"/>
                    <a:pt x="0" y="2010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4987E6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12800" cy="367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b="1">
                  <a:solidFill>
                    <a:srgbClr val="FFFFFF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Duolingo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448354" y="2014773"/>
            <a:ext cx="3086100" cy="1249131"/>
            <a:chOff x="0" y="0"/>
            <a:chExt cx="812800" cy="32898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328989"/>
            </a:xfrm>
            <a:custGeom>
              <a:avLst/>
              <a:gdLst/>
              <a:ahLst/>
              <a:cxnLst/>
              <a:rect l="l" t="t" r="r" b="b"/>
              <a:pathLst>
                <a:path w="812800" h="328989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01048"/>
                  </a:lnTo>
                  <a:cubicBezTo>
                    <a:pt x="812800" y="234980"/>
                    <a:pt x="799321" y="267523"/>
                    <a:pt x="775327" y="291516"/>
                  </a:cubicBezTo>
                  <a:cubicBezTo>
                    <a:pt x="751333" y="315510"/>
                    <a:pt x="718791" y="328989"/>
                    <a:pt x="684859" y="328989"/>
                  </a:cubicBezTo>
                  <a:lnTo>
                    <a:pt x="127941" y="328989"/>
                  </a:lnTo>
                  <a:cubicBezTo>
                    <a:pt x="94009" y="328989"/>
                    <a:pt x="61467" y="315510"/>
                    <a:pt x="37473" y="291516"/>
                  </a:cubicBezTo>
                  <a:cubicBezTo>
                    <a:pt x="13479" y="267523"/>
                    <a:pt x="0" y="234980"/>
                    <a:pt x="0" y="2010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4987E6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12800" cy="367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Khan Academy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782564" y="295924"/>
            <a:ext cx="1370856" cy="1368114"/>
          </a:xfrm>
          <a:custGeom>
            <a:avLst/>
            <a:gdLst/>
            <a:ahLst/>
            <a:cxnLst/>
            <a:rect l="l" t="t" r="r" b="b"/>
            <a:pathLst>
              <a:path w="1370856" h="1368114">
                <a:moveTo>
                  <a:pt x="0" y="0"/>
                </a:moveTo>
                <a:lnTo>
                  <a:pt x="1370856" y="0"/>
                </a:lnTo>
                <a:lnTo>
                  <a:pt x="1370856" y="1368114"/>
                </a:lnTo>
                <a:lnTo>
                  <a:pt x="0" y="13681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2379572" y="434863"/>
            <a:ext cx="10879228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11"/>
              </a:lnSpc>
            </a:pPr>
            <a:r>
              <a:rPr lang="en-US" sz="4176" b="1" spc="150" dirty="0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Solution Overview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22867" y="3493119"/>
            <a:ext cx="5579520" cy="4859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1"/>
              </a:lnSpc>
            </a:pPr>
            <a:r>
              <a:rPr lang="en-US" sz="2199" spc="8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Duolingo transforms learning into a game-like experience using:</a:t>
            </a:r>
          </a:p>
          <a:p>
            <a:pPr marL="474979" lvl="1" indent="-237490" algn="l">
              <a:lnSpc>
                <a:spcPts val="2551"/>
              </a:lnSpc>
              <a:buFont typeface="Arial"/>
              <a:buChar char="•"/>
            </a:pPr>
            <a:r>
              <a:rPr lang="en-US" sz="2199" b="1" spc="85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Gamification elements</a:t>
            </a:r>
            <a:r>
              <a:rPr lang="en-US" sz="2199" spc="8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XP points, streaks, levels, and leaderboards</a:t>
            </a:r>
          </a:p>
          <a:p>
            <a:pPr marL="474979" lvl="1" indent="-237490" algn="l">
              <a:lnSpc>
                <a:spcPts val="2551"/>
              </a:lnSpc>
              <a:buFont typeface="Arial"/>
              <a:buChar char="•"/>
            </a:pPr>
            <a:r>
              <a:rPr lang="en-US" sz="2199" spc="8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Short, interactive lessons (5–10 minutes each)</a:t>
            </a:r>
          </a:p>
          <a:p>
            <a:pPr marL="474979" lvl="1" indent="-237490" algn="l">
              <a:lnSpc>
                <a:spcPts val="2551"/>
              </a:lnSpc>
              <a:buFont typeface="Arial"/>
              <a:buChar char="•"/>
            </a:pPr>
            <a:r>
              <a:rPr lang="en-US" sz="2199" b="1" spc="85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personalization</a:t>
            </a:r>
            <a:r>
              <a:rPr lang="en-US" sz="2199" spc="8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to adapt to user ability</a:t>
            </a:r>
          </a:p>
          <a:p>
            <a:pPr marL="474979" lvl="1" indent="-237490" algn="l">
              <a:lnSpc>
                <a:spcPts val="2551"/>
              </a:lnSpc>
              <a:buFont typeface="Arial"/>
              <a:buChar char="•"/>
            </a:pPr>
            <a:r>
              <a:rPr lang="en-US" sz="2199" spc="8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Free access model for global inclusivity</a:t>
            </a:r>
          </a:p>
          <a:p>
            <a:pPr marL="474979" lvl="1" indent="-237490" algn="l">
              <a:lnSpc>
                <a:spcPts val="2551"/>
              </a:lnSpc>
              <a:buFont typeface="Arial"/>
              <a:buChar char="•"/>
            </a:pPr>
            <a:r>
              <a:rPr lang="en-US" sz="2199" spc="85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Duolingo for Schools – a tool for teachers to track students’ progress</a:t>
            </a:r>
          </a:p>
          <a:p>
            <a:pPr algn="l">
              <a:lnSpc>
                <a:spcPts val="2551"/>
              </a:lnSpc>
            </a:pPr>
            <a:endParaRPr lang="en-US" sz="2199" spc="85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86023" y="6580376"/>
            <a:ext cx="6331190" cy="3706624"/>
          </a:xfrm>
          <a:custGeom>
            <a:avLst/>
            <a:gdLst/>
            <a:ahLst/>
            <a:cxnLst/>
            <a:rect l="l" t="t" r="r" b="b"/>
            <a:pathLst>
              <a:path w="6331190" h="3706624">
                <a:moveTo>
                  <a:pt x="0" y="0"/>
                </a:moveTo>
                <a:lnTo>
                  <a:pt x="6331190" y="0"/>
                </a:lnTo>
                <a:lnTo>
                  <a:pt x="6331190" y="3706624"/>
                </a:lnTo>
                <a:lnTo>
                  <a:pt x="0" y="3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461620" y="0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153420" y="2859029"/>
            <a:ext cx="12142028" cy="5971278"/>
            <a:chOff x="0" y="0"/>
            <a:chExt cx="3197900" cy="157268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197900" cy="1572682"/>
            </a:xfrm>
            <a:custGeom>
              <a:avLst/>
              <a:gdLst/>
              <a:ahLst/>
              <a:cxnLst/>
              <a:rect l="l" t="t" r="r" b="b"/>
              <a:pathLst>
                <a:path w="3197900" h="1572682">
                  <a:moveTo>
                    <a:pt x="32518" y="0"/>
                  </a:moveTo>
                  <a:lnTo>
                    <a:pt x="3165382" y="0"/>
                  </a:lnTo>
                  <a:cubicBezTo>
                    <a:pt x="3174006" y="0"/>
                    <a:pt x="3182278" y="3426"/>
                    <a:pt x="3188376" y="9524"/>
                  </a:cubicBezTo>
                  <a:cubicBezTo>
                    <a:pt x="3194474" y="15623"/>
                    <a:pt x="3197900" y="23894"/>
                    <a:pt x="3197900" y="32518"/>
                  </a:cubicBezTo>
                  <a:lnTo>
                    <a:pt x="3197900" y="1540164"/>
                  </a:lnTo>
                  <a:cubicBezTo>
                    <a:pt x="3197900" y="1548788"/>
                    <a:pt x="3194474" y="1557060"/>
                    <a:pt x="3188376" y="1563158"/>
                  </a:cubicBezTo>
                  <a:cubicBezTo>
                    <a:pt x="3182278" y="1569256"/>
                    <a:pt x="3174006" y="1572682"/>
                    <a:pt x="3165382" y="1572682"/>
                  </a:cubicBezTo>
                  <a:lnTo>
                    <a:pt x="32518" y="1572682"/>
                  </a:lnTo>
                  <a:cubicBezTo>
                    <a:pt x="23894" y="1572682"/>
                    <a:pt x="15623" y="1569256"/>
                    <a:pt x="9524" y="1563158"/>
                  </a:cubicBezTo>
                  <a:cubicBezTo>
                    <a:pt x="3426" y="1557060"/>
                    <a:pt x="0" y="1548788"/>
                    <a:pt x="0" y="1540164"/>
                  </a:cubicBezTo>
                  <a:lnTo>
                    <a:pt x="0" y="32518"/>
                  </a:lnTo>
                  <a:cubicBezTo>
                    <a:pt x="0" y="23894"/>
                    <a:pt x="3426" y="15623"/>
                    <a:pt x="9524" y="9524"/>
                  </a:cubicBezTo>
                  <a:cubicBezTo>
                    <a:pt x="15623" y="3426"/>
                    <a:pt x="23894" y="0"/>
                    <a:pt x="32518" y="0"/>
                  </a:cubicBezTo>
                  <a:close/>
                </a:path>
              </a:pathLst>
            </a:custGeom>
            <a:solidFill>
              <a:srgbClr val="E9F4F3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197900" cy="16107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Problem for Malaysian Students</a:t>
              </a:r>
            </a:p>
            <a:p>
              <a:pPr algn="ctr">
                <a:lnSpc>
                  <a:spcPts val="3079"/>
                </a:lnSpc>
              </a:pPr>
              <a:endPara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496559" lvl="1" indent="-248280" algn="ctr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Problem: For many secondary school students, </a:t>
              </a:r>
              <a:r>
                <a:rPr lang="en-US" sz="2299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learning is not interactive</a:t>
              </a:r>
              <a:r>
                <a:rPr lang="en-US" sz="22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or </a:t>
              </a:r>
              <a:r>
                <a:rPr lang="en-US" sz="2299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enjoyable. </a:t>
              </a:r>
              <a:r>
                <a:rPr lang="en-US" sz="22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This leads to students feeling unexcited about their education.</a:t>
              </a:r>
            </a:p>
            <a:p>
              <a:pPr algn="ctr">
                <a:lnSpc>
                  <a:spcPts val="3079"/>
                </a:lnSpc>
              </a:pPr>
              <a:endParaRPr lang="en-US" sz="22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474970" lvl="1" indent="-237485" algn="ctr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Gap: Current educational tools are often generic. They </a:t>
              </a:r>
              <a:r>
                <a:rPr lang="en-US" sz="2199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lack content</a:t>
              </a:r>
              <a:r>
                <a:rPr lang="en-US" sz="21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that is specifically and "locally relevant" to the Malaysian curriculum. </a:t>
              </a:r>
            </a:p>
            <a:p>
              <a:pPr algn="ctr">
                <a:lnSpc>
                  <a:spcPts val="3079"/>
                </a:lnSpc>
              </a:pPr>
              <a:endPara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474970" lvl="1" indent="-237485" algn="ctr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Our Proposed Value</a:t>
              </a:r>
              <a:r>
                <a:rPr lang="en-US" sz="2199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: We make learning exciting. C</a:t>
              </a:r>
              <a:r>
                <a:rPr lang="en-US" sz="21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row Education provides an interactive and enjoyable platform built specifically for the needs of Malaysian secondary school students.</a:t>
              </a:r>
            </a:p>
            <a:p>
              <a:pPr algn="ctr">
                <a:lnSpc>
                  <a:spcPts val="3079"/>
                </a:lnSpc>
              </a:pPr>
              <a:endPara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681384" y="2161950"/>
            <a:ext cx="3086100" cy="1249131"/>
            <a:chOff x="0" y="0"/>
            <a:chExt cx="812800" cy="3289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328989"/>
            </a:xfrm>
            <a:custGeom>
              <a:avLst/>
              <a:gdLst/>
              <a:ahLst/>
              <a:cxnLst/>
              <a:rect l="l" t="t" r="r" b="b"/>
              <a:pathLst>
                <a:path w="812800" h="328989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01048"/>
                  </a:lnTo>
                  <a:cubicBezTo>
                    <a:pt x="812800" y="234980"/>
                    <a:pt x="799321" y="267523"/>
                    <a:pt x="775327" y="291516"/>
                  </a:cubicBezTo>
                  <a:cubicBezTo>
                    <a:pt x="751333" y="315510"/>
                    <a:pt x="718791" y="328989"/>
                    <a:pt x="684859" y="328989"/>
                  </a:cubicBezTo>
                  <a:lnTo>
                    <a:pt x="127941" y="328989"/>
                  </a:lnTo>
                  <a:cubicBezTo>
                    <a:pt x="94009" y="328989"/>
                    <a:pt x="61467" y="315510"/>
                    <a:pt x="37473" y="291516"/>
                  </a:cubicBezTo>
                  <a:cubicBezTo>
                    <a:pt x="13479" y="267523"/>
                    <a:pt x="0" y="234980"/>
                    <a:pt x="0" y="2010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4987E6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367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b="1">
                  <a:solidFill>
                    <a:srgbClr val="FFFFFF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Crow Education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782564" y="295924"/>
            <a:ext cx="1370856" cy="1368114"/>
          </a:xfrm>
          <a:custGeom>
            <a:avLst/>
            <a:gdLst/>
            <a:ahLst/>
            <a:cxnLst/>
            <a:rect l="l" t="t" r="r" b="b"/>
            <a:pathLst>
              <a:path w="1370856" h="1368114">
                <a:moveTo>
                  <a:pt x="0" y="0"/>
                </a:moveTo>
                <a:lnTo>
                  <a:pt x="1370856" y="0"/>
                </a:lnTo>
                <a:lnTo>
                  <a:pt x="1370856" y="1368114"/>
                </a:lnTo>
                <a:lnTo>
                  <a:pt x="0" y="13681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379572" y="752533"/>
            <a:ext cx="7441238" cy="635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11"/>
              </a:lnSpc>
              <a:spcBef>
                <a:spcPct val="0"/>
              </a:spcBef>
            </a:pPr>
            <a:r>
              <a:rPr lang="en-US" sz="4176" b="1" spc="150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86023" y="6580376"/>
            <a:ext cx="6331190" cy="3706624"/>
          </a:xfrm>
          <a:custGeom>
            <a:avLst/>
            <a:gdLst/>
            <a:ahLst/>
            <a:cxnLst/>
            <a:rect l="l" t="t" r="r" b="b"/>
            <a:pathLst>
              <a:path w="6331190" h="3706624">
                <a:moveTo>
                  <a:pt x="0" y="0"/>
                </a:moveTo>
                <a:lnTo>
                  <a:pt x="6331190" y="0"/>
                </a:lnTo>
                <a:lnTo>
                  <a:pt x="6331190" y="3706624"/>
                </a:lnTo>
                <a:lnTo>
                  <a:pt x="0" y="3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461620" y="0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153420" y="2859029"/>
            <a:ext cx="12142028" cy="5971278"/>
            <a:chOff x="0" y="0"/>
            <a:chExt cx="3197900" cy="157268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197900" cy="1572682"/>
            </a:xfrm>
            <a:custGeom>
              <a:avLst/>
              <a:gdLst/>
              <a:ahLst/>
              <a:cxnLst/>
              <a:rect l="l" t="t" r="r" b="b"/>
              <a:pathLst>
                <a:path w="3197900" h="1572682">
                  <a:moveTo>
                    <a:pt x="32518" y="0"/>
                  </a:moveTo>
                  <a:lnTo>
                    <a:pt x="3165382" y="0"/>
                  </a:lnTo>
                  <a:cubicBezTo>
                    <a:pt x="3174006" y="0"/>
                    <a:pt x="3182278" y="3426"/>
                    <a:pt x="3188376" y="9524"/>
                  </a:cubicBezTo>
                  <a:cubicBezTo>
                    <a:pt x="3194474" y="15623"/>
                    <a:pt x="3197900" y="23894"/>
                    <a:pt x="3197900" y="32518"/>
                  </a:cubicBezTo>
                  <a:lnTo>
                    <a:pt x="3197900" y="1540164"/>
                  </a:lnTo>
                  <a:cubicBezTo>
                    <a:pt x="3197900" y="1548788"/>
                    <a:pt x="3194474" y="1557060"/>
                    <a:pt x="3188376" y="1563158"/>
                  </a:cubicBezTo>
                  <a:cubicBezTo>
                    <a:pt x="3182278" y="1569256"/>
                    <a:pt x="3174006" y="1572682"/>
                    <a:pt x="3165382" y="1572682"/>
                  </a:cubicBezTo>
                  <a:lnTo>
                    <a:pt x="32518" y="1572682"/>
                  </a:lnTo>
                  <a:cubicBezTo>
                    <a:pt x="23894" y="1572682"/>
                    <a:pt x="15623" y="1569256"/>
                    <a:pt x="9524" y="1563158"/>
                  </a:cubicBezTo>
                  <a:cubicBezTo>
                    <a:pt x="3426" y="1557060"/>
                    <a:pt x="0" y="1548788"/>
                    <a:pt x="0" y="1540164"/>
                  </a:cubicBezTo>
                  <a:lnTo>
                    <a:pt x="0" y="32518"/>
                  </a:lnTo>
                  <a:cubicBezTo>
                    <a:pt x="0" y="23894"/>
                    <a:pt x="3426" y="15623"/>
                    <a:pt x="9524" y="9524"/>
                  </a:cubicBezTo>
                  <a:cubicBezTo>
                    <a:pt x="15623" y="3426"/>
                    <a:pt x="23894" y="0"/>
                    <a:pt x="32518" y="0"/>
                  </a:cubicBezTo>
                  <a:close/>
                </a:path>
              </a:pathLst>
            </a:custGeom>
            <a:solidFill>
              <a:srgbClr val="E9F4F3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197900" cy="16107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"Crow Education" is a new learning platform designed specifically for secondary school students.</a:t>
              </a:r>
            </a:p>
            <a:p>
              <a:pPr algn="ctr">
                <a:lnSpc>
                  <a:spcPts val="3079"/>
                </a:lnSpc>
              </a:pPr>
              <a:endPara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Our solution is built on three core features to make learning interactive and enjoyable: </a:t>
              </a:r>
            </a:p>
            <a:p>
              <a:pPr algn="ctr">
                <a:lnSpc>
                  <a:spcPts val="3079"/>
                </a:lnSpc>
              </a:pPr>
              <a:endPara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algn="ctr">
                <a:lnSpc>
                  <a:spcPts val="3079"/>
                </a:lnSpc>
              </a:pPr>
              <a:endPara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algn="ctr">
                <a:lnSpc>
                  <a:spcPts val="3079"/>
                </a:lnSpc>
              </a:pPr>
              <a:endPara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algn="ctr">
                <a:lnSpc>
                  <a:spcPts val="3079"/>
                </a:lnSpc>
              </a:pPr>
              <a:endPara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Our Novelty: The technological novelty lies in the synthesis of gamification and real-time assessment that is hyper-focused on the Malaysian curriculum.</a:t>
              </a:r>
            </a:p>
            <a:p>
              <a:pPr algn="ctr">
                <a:lnSpc>
                  <a:spcPts val="3079"/>
                </a:lnSpc>
              </a:pPr>
              <a:endPara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681384" y="2161950"/>
            <a:ext cx="3086100" cy="1249131"/>
            <a:chOff x="0" y="0"/>
            <a:chExt cx="812800" cy="3289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328989"/>
            </a:xfrm>
            <a:custGeom>
              <a:avLst/>
              <a:gdLst/>
              <a:ahLst/>
              <a:cxnLst/>
              <a:rect l="l" t="t" r="r" b="b"/>
              <a:pathLst>
                <a:path w="812800" h="328989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01048"/>
                  </a:lnTo>
                  <a:cubicBezTo>
                    <a:pt x="812800" y="234980"/>
                    <a:pt x="799321" y="267523"/>
                    <a:pt x="775327" y="291516"/>
                  </a:cubicBezTo>
                  <a:cubicBezTo>
                    <a:pt x="751333" y="315510"/>
                    <a:pt x="718791" y="328989"/>
                    <a:pt x="684859" y="328989"/>
                  </a:cubicBezTo>
                  <a:lnTo>
                    <a:pt x="127941" y="328989"/>
                  </a:lnTo>
                  <a:cubicBezTo>
                    <a:pt x="94009" y="328989"/>
                    <a:pt x="61467" y="315510"/>
                    <a:pt x="37473" y="291516"/>
                  </a:cubicBezTo>
                  <a:cubicBezTo>
                    <a:pt x="13479" y="267523"/>
                    <a:pt x="0" y="234980"/>
                    <a:pt x="0" y="2010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4987E6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367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b="1">
                  <a:solidFill>
                    <a:srgbClr val="FFFFFF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Crow Education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782564" y="295924"/>
            <a:ext cx="1370856" cy="1368114"/>
          </a:xfrm>
          <a:custGeom>
            <a:avLst/>
            <a:gdLst/>
            <a:ahLst/>
            <a:cxnLst/>
            <a:rect l="l" t="t" r="r" b="b"/>
            <a:pathLst>
              <a:path w="1370856" h="1368114">
                <a:moveTo>
                  <a:pt x="0" y="0"/>
                </a:moveTo>
                <a:lnTo>
                  <a:pt x="1370856" y="0"/>
                </a:lnTo>
                <a:lnTo>
                  <a:pt x="1370856" y="1368114"/>
                </a:lnTo>
                <a:lnTo>
                  <a:pt x="0" y="13681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379572" y="752533"/>
            <a:ext cx="7441238" cy="635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11"/>
              </a:lnSpc>
              <a:spcBef>
                <a:spcPct val="0"/>
              </a:spcBef>
            </a:pPr>
            <a:r>
              <a:rPr lang="en-US" sz="4176" b="1" spc="150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Our Solution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15000" y="5569196"/>
            <a:ext cx="5682398" cy="115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2A2E3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1. Chat with friends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2A2E3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2. Assessment feedback from educator 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2A2E3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3. Listen music (chill when study)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6770" y="7920357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0"/>
                </a:moveTo>
                <a:lnTo>
                  <a:pt x="5826379" y="0"/>
                </a:lnTo>
                <a:lnTo>
                  <a:pt x="5826379" y="3411080"/>
                </a:lnTo>
                <a:lnTo>
                  <a:pt x="0" y="3411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461620" y="0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274780" y="1976996"/>
            <a:ext cx="9573884" cy="6964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18"/>
              </a:lnSpc>
              <a:spcBef>
                <a:spcPct val="0"/>
              </a:spcBef>
            </a:pPr>
            <a:r>
              <a:rPr lang="en-US" sz="3298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Duolingo is a </a:t>
            </a:r>
            <a:r>
              <a:rPr lang="en-US" sz="3298" b="1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free language learning platform</a:t>
            </a:r>
            <a:r>
              <a:rPr lang="en-US" sz="3298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founded in 2011 by Luis von Ahn and Severin Hacker in Pittsburgh, USA. It offers gamified lessons through its website and app, covering </a:t>
            </a:r>
            <a:r>
              <a:rPr lang="en-US" sz="3298" b="1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40+ languages</a:t>
            </a:r>
            <a:r>
              <a:rPr lang="en-US" sz="3298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like English, Spanish, and Japanese. Using AI-powered adaptive learning, Duolingo tailors exercises to each user’s skill level, combining reading, writing, listening, and speaking. With over </a:t>
            </a:r>
            <a:r>
              <a:rPr lang="en-US" sz="3298" b="1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500 million</a:t>
            </a:r>
            <a:r>
              <a:rPr lang="en-US" sz="3298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global users, it makes language learning fun, accessible, and effective.</a:t>
            </a:r>
          </a:p>
        </p:txBody>
      </p:sp>
      <p:sp>
        <p:nvSpPr>
          <p:cNvPr id="5" name="Freeform 5"/>
          <p:cNvSpPr/>
          <p:nvPr/>
        </p:nvSpPr>
        <p:spPr>
          <a:xfrm>
            <a:off x="10567723" y="1649151"/>
            <a:ext cx="7935970" cy="7500664"/>
          </a:xfrm>
          <a:custGeom>
            <a:avLst/>
            <a:gdLst/>
            <a:ahLst/>
            <a:cxnLst/>
            <a:rect l="l" t="t" r="r" b="b"/>
            <a:pathLst>
              <a:path w="7935970" h="7500664">
                <a:moveTo>
                  <a:pt x="0" y="0"/>
                </a:moveTo>
                <a:lnTo>
                  <a:pt x="7935970" y="0"/>
                </a:lnTo>
                <a:lnTo>
                  <a:pt x="7935970" y="7500664"/>
                </a:lnTo>
                <a:lnTo>
                  <a:pt x="0" y="75006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89352" y="242176"/>
            <a:ext cx="9978371" cy="18110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30364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 of </a:t>
            </a:r>
          </a:p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30364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Duolingo</a:t>
            </a:r>
          </a:p>
        </p:txBody>
      </p:sp>
      <p:sp>
        <p:nvSpPr>
          <p:cNvPr id="7" name="Freeform 7"/>
          <p:cNvSpPr/>
          <p:nvPr/>
        </p:nvSpPr>
        <p:spPr>
          <a:xfrm>
            <a:off x="589352" y="263888"/>
            <a:ext cx="1370856" cy="1368114"/>
          </a:xfrm>
          <a:custGeom>
            <a:avLst/>
            <a:gdLst/>
            <a:ahLst/>
            <a:cxnLst/>
            <a:rect l="l" t="t" r="r" b="b"/>
            <a:pathLst>
              <a:path w="1370856" h="1368114">
                <a:moveTo>
                  <a:pt x="0" y="0"/>
                </a:moveTo>
                <a:lnTo>
                  <a:pt x="1370856" y="0"/>
                </a:lnTo>
                <a:lnTo>
                  <a:pt x="1370856" y="1368114"/>
                </a:lnTo>
                <a:lnTo>
                  <a:pt x="0" y="13681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8312051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0"/>
                </a:moveTo>
                <a:lnTo>
                  <a:pt x="5826380" y="0"/>
                </a:lnTo>
                <a:lnTo>
                  <a:pt x="5826380" y="3411081"/>
                </a:lnTo>
                <a:lnTo>
                  <a:pt x="0" y="34110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461620" y="0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23830" y="2245226"/>
            <a:ext cx="10005100" cy="6581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Khan Academy is a free online education platform founded in 2008 by Salman Khan in California, USA. It provides high-quality video lessons and exercises across subjects like math, science, and economics. Learners can study at their </a:t>
            </a:r>
            <a:r>
              <a:rPr lang="en-US" sz="3399" b="1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own pace</a:t>
            </a:r>
            <a:r>
              <a:rPr lang="en-US" sz="33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through structured courses and interactive practice. Trusted by millions of students and teachers worldwide, Khan Academy’s mission is to offer a free, </a:t>
            </a:r>
            <a:r>
              <a:rPr lang="en-US" sz="3399" b="1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world-class education </a:t>
            </a:r>
            <a:r>
              <a:rPr lang="en-US" sz="33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for anyone, anywhere.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86962" y="63110"/>
            <a:ext cx="6732394" cy="1826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4"/>
              </a:lnSpc>
            </a:pPr>
            <a:r>
              <a:rPr lang="en-US" sz="5217" b="1">
                <a:solidFill>
                  <a:srgbClr val="30364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 of </a:t>
            </a:r>
          </a:p>
          <a:p>
            <a:pPr algn="ctr">
              <a:lnSpc>
                <a:spcPts val="7304"/>
              </a:lnSpc>
            </a:pPr>
            <a:r>
              <a:rPr lang="en-US" sz="5217" b="1">
                <a:solidFill>
                  <a:srgbClr val="30364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Khan Academy</a:t>
            </a:r>
          </a:p>
        </p:txBody>
      </p:sp>
      <p:sp>
        <p:nvSpPr>
          <p:cNvPr id="6" name="Freeform 6"/>
          <p:cNvSpPr/>
          <p:nvPr/>
        </p:nvSpPr>
        <p:spPr>
          <a:xfrm>
            <a:off x="11033800" y="2045659"/>
            <a:ext cx="6225500" cy="6780709"/>
          </a:xfrm>
          <a:custGeom>
            <a:avLst/>
            <a:gdLst/>
            <a:ahLst/>
            <a:cxnLst/>
            <a:rect l="l" t="t" r="r" b="b"/>
            <a:pathLst>
              <a:path w="6225500" h="6780709">
                <a:moveTo>
                  <a:pt x="0" y="0"/>
                </a:moveTo>
                <a:lnTo>
                  <a:pt x="6225500" y="0"/>
                </a:lnTo>
                <a:lnTo>
                  <a:pt x="6225500" y="6780708"/>
                </a:lnTo>
                <a:lnTo>
                  <a:pt x="0" y="6780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834" r="-4834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99077" y="167885"/>
            <a:ext cx="1370856" cy="1368114"/>
          </a:xfrm>
          <a:custGeom>
            <a:avLst/>
            <a:gdLst/>
            <a:ahLst/>
            <a:cxnLst/>
            <a:rect l="l" t="t" r="r" b="b"/>
            <a:pathLst>
              <a:path w="1370856" h="1368114">
                <a:moveTo>
                  <a:pt x="0" y="0"/>
                </a:moveTo>
                <a:lnTo>
                  <a:pt x="1370856" y="0"/>
                </a:lnTo>
                <a:lnTo>
                  <a:pt x="1370856" y="1368114"/>
                </a:lnTo>
                <a:lnTo>
                  <a:pt x="0" y="13681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8373898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0"/>
                </a:moveTo>
                <a:lnTo>
                  <a:pt x="5826380" y="0"/>
                </a:lnTo>
                <a:lnTo>
                  <a:pt x="5826380" y="3411080"/>
                </a:lnTo>
                <a:lnTo>
                  <a:pt x="0" y="3411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461620" y="0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179068" y="2711707"/>
            <a:ext cx="7163230" cy="6510050"/>
            <a:chOff x="0" y="0"/>
            <a:chExt cx="1886612" cy="171458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86612" cy="1714581"/>
            </a:xfrm>
            <a:custGeom>
              <a:avLst/>
              <a:gdLst/>
              <a:ahLst/>
              <a:cxnLst/>
              <a:rect l="l" t="t" r="r" b="b"/>
              <a:pathLst>
                <a:path w="1886612" h="1714581">
                  <a:moveTo>
                    <a:pt x="55120" y="0"/>
                  </a:moveTo>
                  <a:lnTo>
                    <a:pt x="1831492" y="0"/>
                  </a:lnTo>
                  <a:cubicBezTo>
                    <a:pt x="1861934" y="0"/>
                    <a:pt x="1886612" y="24678"/>
                    <a:pt x="1886612" y="55120"/>
                  </a:cubicBezTo>
                  <a:lnTo>
                    <a:pt x="1886612" y="1659461"/>
                  </a:lnTo>
                  <a:cubicBezTo>
                    <a:pt x="1886612" y="1689903"/>
                    <a:pt x="1861934" y="1714581"/>
                    <a:pt x="1831492" y="1714581"/>
                  </a:cubicBezTo>
                  <a:lnTo>
                    <a:pt x="55120" y="1714581"/>
                  </a:lnTo>
                  <a:cubicBezTo>
                    <a:pt x="40501" y="1714581"/>
                    <a:pt x="26481" y="1708774"/>
                    <a:pt x="16144" y="1698437"/>
                  </a:cubicBezTo>
                  <a:cubicBezTo>
                    <a:pt x="5807" y="1688100"/>
                    <a:pt x="0" y="1674080"/>
                    <a:pt x="0" y="1659461"/>
                  </a:cubicBezTo>
                  <a:lnTo>
                    <a:pt x="0" y="55120"/>
                  </a:lnTo>
                  <a:cubicBezTo>
                    <a:pt x="0" y="24678"/>
                    <a:pt x="24678" y="0"/>
                    <a:pt x="55120" y="0"/>
                  </a:cubicBezTo>
                  <a:close/>
                </a:path>
              </a:pathLst>
            </a:custGeom>
            <a:solidFill>
              <a:srgbClr val="E9F4F3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886612" cy="1752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022986" y="2711707"/>
            <a:ext cx="7153361" cy="6546593"/>
            <a:chOff x="0" y="0"/>
            <a:chExt cx="1884013" cy="17242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84013" cy="1724206"/>
            </a:xfrm>
            <a:custGeom>
              <a:avLst/>
              <a:gdLst/>
              <a:ahLst/>
              <a:cxnLst/>
              <a:rect l="l" t="t" r="r" b="b"/>
              <a:pathLst>
                <a:path w="1884013" h="1724206">
                  <a:moveTo>
                    <a:pt x="55196" y="0"/>
                  </a:moveTo>
                  <a:lnTo>
                    <a:pt x="1828817" y="0"/>
                  </a:lnTo>
                  <a:cubicBezTo>
                    <a:pt x="1843456" y="0"/>
                    <a:pt x="1857495" y="5815"/>
                    <a:pt x="1867846" y="16167"/>
                  </a:cubicBezTo>
                  <a:cubicBezTo>
                    <a:pt x="1878197" y="26518"/>
                    <a:pt x="1884013" y="40557"/>
                    <a:pt x="1884013" y="55196"/>
                  </a:cubicBezTo>
                  <a:lnTo>
                    <a:pt x="1884013" y="1669010"/>
                  </a:lnTo>
                  <a:cubicBezTo>
                    <a:pt x="1884013" y="1683648"/>
                    <a:pt x="1878197" y="1697688"/>
                    <a:pt x="1867846" y="1708039"/>
                  </a:cubicBezTo>
                  <a:cubicBezTo>
                    <a:pt x="1857495" y="1718390"/>
                    <a:pt x="1843456" y="1724206"/>
                    <a:pt x="1828817" y="1724206"/>
                  </a:cubicBezTo>
                  <a:lnTo>
                    <a:pt x="55196" y="1724206"/>
                  </a:lnTo>
                  <a:cubicBezTo>
                    <a:pt x="40557" y="1724206"/>
                    <a:pt x="26518" y="1718390"/>
                    <a:pt x="16167" y="1708039"/>
                  </a:cubicBezTo>
                  <a:cubicBezTo>
                    <a:pt x="5815" y="1697688"/>
                    <a:pt x="0" y="1683648"/>
                    <a:pt x="0" y="1669010"/>
                  </a:cubicBezTo>
                  <a:lnTo>
                    <a:pt x="0" y="55196"/>
                  </a:lnTo>
                  <a:cubicBezTo>
                    <a:pt x="0" y="40557"/>
                    <a:pt x="5815" y="26518"/>
                    <a:pt x="16167" y="16167"/>
                  </a:cubicBezTo>
                  <a:cubicBezTo>
                    <a:pt x="26518" y="5815"/>
                    <a:pt x="40557" y="0"/>
                    <a:pt x="55196" y="0"/>
                  </a:cubicBezTo>
                  <a:close/>
                </a:path>
              </a:pathLst>
            </a:custGeom>
            <a:solidFill>
              <a:srgbClr val="E9F4F3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884013" cy="17623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237674" y="2087141"/>
            <a:ext cx="3086100" cy="1249131"/>
            <a:chOff x="0" y="0"/>
            <a:chExt cx="812800" cy="32898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328989"/>
            </a:xfrm>
            <a:custGeom>
              <a:avLst/>
              <a:gdLst/>
              <a:ahLst/>
              <a:cxnLst/>
              <a:rect l="l" t="t" r="r" b="b"/>
              <a:pathLst>
                <a:path w="812800" h="328989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01048"/>
                  </a:lnTo>
                  <a:cubicBezTo>
                    <a:pt x="812800" y="234980"/>
                    <a:pt x="799321" y="267523"/>
                    <a:pt x="775327" y="291516"/>
                  </a:cubicBezTo>
                  <a:cubicBezTo>
                    <a:pt x="751333" y="315510"/>
                    <a:pt x="718791" y="328989"/>
                    <a:pt x="684859" y="328989"/>
                  </a:cubicBezTo>
                  <a:lnTo>
                    <a:pt x="127941" y="328989"/>
                  </a:lnTo>
                  <a:cubicBezTo>
                    <a:pt x="94009" y="328989"/>
                    <a:pt x="61467" y="315510"/>
                    <a:pt x="37473" y="291516"/>
                  </a:cubicBezTo>
                  <a:cubicBezTo>
                    <a:pt x="13479" y="267523"/>
                    <a:pt x="0" y="234980"/>
                    <a:pt x="0" y="2010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4987E6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12800" cy="367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b="1">
                  <a:solidFill>
                    <a:srgbClr val="FFFFFF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Duolingo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056617" y="2087141"/>
            <a:ext cx="3086100" cy="1249131"/>
            <a:chOff x="0" y="0"/>
            <a:chExt cx="812800" cy="32898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328989"/>
            </a:xfrm>
            <a:custGeom>
              <a:avLst/>
              <a:gdLst/>
              <a:ahLst/>
              <a:cxnLst/>
              <a:rect l="l" t="t" r="r" b="b"/>
              <a:pathLst>
                <a:path w="812800" h="328989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01048"/>
                  </a:lnTo>
                  <a:cubicBezTo>
                    <a:pt x="812800" y="234980"/>
                    <a:pt x="799321" y="267523"/>
                    <a:pt x="775327" y="291516"/>
                  </a:cubicBezTo>
                  <a:cubicBezTo>
                    <a:pt x="751333" y="315510"/>
                    <a:pt x="718791" y="328989"/>
                    <a:pt x="684859" y="328989"/>
                  </a:cubicBezTo>
                  <a:lnTo>
                    <a:pt x="127941" y="328989"/>
                  </a:lnTo>
                  <a:cubicBezTo>
                    <a:pt x="94009" y="328989"/>
                    <a:pt x="61467" y="315510"/>
                    <a:pt x="37473" y="291516"/>
                  </a:cubicBezTo>
                  <a:cubicBezTo>
                    <a:pt x="13479" y="267523"/>
                    <a:pt x="0" y="234980"/>
                    <a:pt x="0" y="2010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4987E6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12800" cy="367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b="1">
                  <a:solidFill>
                    <a:srgbClr val="FFFFFF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khan Academy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153420" y="662312"/>
            <a:ext cx="7441238" cy="635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11"/>
              </a:lnSpc>
              <a:spcBef>
                <a:spcPct val="0"/>
              </a:spcBef>
            </a:pPr>
            <a:r>
              <a:rPr lang="en-US" sz="4176" b="1" spc="150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Business Model </a:t>
            </a:r>
          </a:p>
        </p:txBody>
      </p:sp>
      <p:sp>
        <p:nvSpPr>
          <p:cNvPr id="17" name="Freeform 17"/>
          <p:cNvSpPr/>
          <p:nvPr/>
        </p:nvSpPr>
        <p:spPr>
          <a:xfrm>
            <a:off x="782564" y="295924"/>
            <a:ext cx="1370856" cy="1368114"/>
          </a:xfrm>
          <a:custGeom>
            <a:avLst/>
            <a:gdLst/>
            <a:ahLst/>
            <a:cxnLst/>
            <a:rect l="l" t="t" r="r" b="b"/>
            <a:pathLst>
              <a:path w="1370856" h="1368114">
                <a:moveTo>
                  <a:pt x="0" y="0"/>
                </a:moveTo>
                <a:lnTo>
                  <a:pt x="1370856" y="0"/>
                </a:lnTo>
                <a:lnTo>
                  <a:pt x="1370856" y="1368114"/>
                </a:lnTo>
                <a:lnTo>
                  <a:pt x="0" y="13681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9051693" y="3468303"/>
            <a:ext cx="7153361" cy="5232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38" lvl="1" indent="-269869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Provides different services or products that solve similar customer needs or problems. </a:t>
            </a:r>
          </a:p>
          <a:p>
            <a:pPr marL="539738" lvl="1" indent="-269869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Targets overlapping or adjacent market segments but may not directly compete with us. </a:t>
            </a:r>
          </a:p>
          <a:p>
            <a:pPr marL="539738" lvl="1" indent="-269869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Might offer complementary products or services that could substitute or supplement ours.</a:t>
            </a:r>
          </a:p>
          <a:p>
            <a:pPr marL="539738" lvl="1" indent="-269869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Can include companies from different industries or sectors that indirectly impact our market.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86263" y="3468303"/>
            <a:ext cx="6588922" cy="6108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3" lvl="1" indent="-269871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Duolingo uses a freemium model: Free version: </a:t>
            </a:r>
          </a:p>
          <a:p>
            <a:pPr marL="539743" lvl="1" indent="-269871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Access to all lessons (with ads) Super / Max </a:t>
            </a:r>
          </a:p>
          <a:p>
            <a:pPr marL="539743" lvl="1" indent="-269871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Duolingo (Paid): Ad-free experience, unlimited hearts, AI features, and progress tracking </a:t>
            </a:r>
          </a:p>
          <a:p>
            <a:pPr marL="539743" lvl="1" indent="-269871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Other revenue: Duolingo English Test (DET) – used for university admissions Partnerships &amp; brand collaborations</a:t>
            </a:r>
          </a:p>
          <a:p>
            <a:pPr marL="539743" lvl="1" indent="-269871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💰2024 Revenue: US$748 million</a:t>
            </a:r>
          </a:p>
          <a:p>
            <a:pPr marL="539743" lvl="1" indent="-269871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💎Paid Subscribers: 10.9 million (2025)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" name="Freeform 20"/>
          <p:cNvSpPr/>
          <p:nvPr/>
        </p:nvSpPr>
        <p:spPr>
          <a:xfrm flipH="1" flipV="1">
            <a:off x="12614020" y="152400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63435" y="2256838"/>
            <a:ext cx="6438160" cy="4650653"/>
            <a:chOff x="0" y="0"/>
            <a:chExt cx="889722" cy="6426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89722" cy="642697"/>
            </a:xfrm>
            <a:custGeom>
              <a:avLst/>
              <a:gdLst/>
              <a:ahLst/>
              <a:cxnLst/>
              <a:rect l="l" t="t" r="r" b="b"/>
              <a:pathLst>
                <a:path w="889722" h="642697">
                  <a:moveTo>
                    <a:pt x="0" y="0"/>
                  </a:moveTo>
                  <a:lnTo>
                    <a:pt x="889722" y="0"/>
                  </a:lnTo>
                  <a:lnTo>
                    <a:pt x="889722" y="642697"/>
                  </a:lnTo>
                  <a:lnTo>
                    <a:pt x="0" y="642697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89722" cy="6807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623344" y="2256838"/>
            <a:ext cx="6085267" cy="4306722"/>
            <a:chOff x="0" y="0"/>
            <a:chExt cx="840954" cy="5951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40954" cy="595168"/>
            </a:xfrm>
            <a:custGeom>
              <a:avLst/>
              <a:gdLst/>
              <a:ahLst/>
              <a:cxnLst/>
              <a:rect l="l" t="t" r="r" b="b"/>
              <a:pathLst>
                <a:path w="840954" h="595168">
                  <a:moveTo>
                    <a:pt x="0" y="0"/>
                  </a:moveTo>
                  <a:lnTo>
                    <a:pt x="840954" y="0"/>
                  </a:lnTo>
                  <a:lnTo>
                    <a:pt x="840954" y="595168"/>
                  </a:lnTo>
                  <a:lnTo>
                    <a:pt x="0" y="595168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40954" cy="6332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1104039" y="7021646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0"/>
                </a:moveTo>
                <a:lnTo>
                  <a:pt x="5826380" y="0"/>
                </a:lnTo>
                <a:lnTo>
                  <a:pt x="5826380" y="3411081"/>
                </a:lnTo>
                <a:lnTo>
                  <a:pt x="0" y="34110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2259823" y="6234475"/>
            <a:ext cx="5881542" cy="3645087"/>
            <a:chOff x="0" y="0"/>
            <a:chExt cx="812800" cy="5037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503733"/>
            </a:xfrm>
            <a:custGeom>
              <a:avLst/>
              <a:gdLst/>
              <a:ahLst/>
              <a:cxnLst/>
              <a:rect l="l" t="t" r="r" b="b"/>
              <a:pathLst>
                <a:path w="812800" h="503733">
                  <a:moveTo>
                    <a:pt x="0" y="0"/>
                  </a:moveTo>
                  <a:lnTo>
                    <a:pt x="812800" y="0"/>
                  </a:lnTo>
                  <a:lnTo>
                    <a:pt x="812800" y="503733"/>
                  </a:lnTo>
                  <a:lnTo>
                    <a:pt x="0" y="503733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812800" cy="5418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1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992859" y="6041067"/>
            <a:ext cx="5881542" cy="3564835"/>
            <a:chOff x="0" y="0"/>
            <a:chExt cx="812800" cy="49264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492643"/>
            </a:xfrm>
            <a:custGeom>
              <a:avLst/>
              <a:gdLst/>
              <a:ahLst/>
              <a:cxnLst/>
              <a:rect l="l" t="t" r="r" b="b"/>
              <a:pathLst>
                <a:path w="812800" h="492643">
                  <a:moveTo>
                    <a:pt x="0" y="0"/>
                  </a:moveTo>
                  <a:lnTo>
                    <a:pt x="812800" y="0"/>
                  </a:lnTo>
                  <a:lnTo>
                    <a:pt x="812800" y="492643"/>
                  </a:lnTo>
                  <a:lnTo>
                    <a:pt x="0" y="492643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812800" cy="530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1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714058" y="2864017"/>
            <a:ext cx="2376398" cy="727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Marketing 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endParaRPr lang="en-US" sz="2100" b="1">
              <a:solidFill>
                <a:srgbClr val="FFFFFF"/>
              </a:solidFill>
              <a:latin typeface="Montserrat Semi-Bold"/>
              <a:ea typeface="Montserrat Semi-Bold"/>
              <a:cs typeface="Montserrat Semi-Bold"/>
              <a:sym typeface="Montserrat Semi-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902257" y="6551256"/>
            <a:ext cx="2603899" cy="356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Implementation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68887" y="6320068"/>
            <a:ext cx="2664742" cy="356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Implementation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54428" y="3199297"/>
            <a:ext cx="5335826" cy="316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Targets global learners (students, professionals, travelers).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Part of the $100B+ language learning market.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Promoted via social media, gamification, and partnerships.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Available on mobile app and web globally.</a:t>
            </a:r>
          </a:p>
          <a:p>
            <a:pPr algn="l">
              <a:lnSpc>
                <a:spcPts val="2800"/>
              </a:lnSpc>
            </a:pPr>
            <a:endParaRPr lang="en-US" sz="2000" b="1">
              <a:solidFill>
                <a:srgbClr val="FFFFFF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073118" y="3043867"/>
            <a:ext cx="5185720" cy="281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Targets students, teachers, and schools.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Operates in the $400B global e-learning market.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Promoted through school partnerships, NGOs, and YouTube.</a:t>
            </a:r>
          </a:p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Accessible via website and mobile app.</a:t>
            </a:r>
          </a:p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endParaRPr lang="en-US" sz="2000" b="1">
              <a:solidFill>
                <a:srgbClr val="FFFFFF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948800" y="7078941"/>
            <a:ext cx="4752795" cy="281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Add more languages and cultural courses.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Use AI for personalized learning.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Expand Duolingo Plus and school programs.</a:t>
            </a:r>
          </a:p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Grow in Asia and Europe with localized content.</a:t>
            </a:r>
          </a:p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endParaRPr lang="en-US" sz="2000" b="1">
              <a:solidFill>
                <a:srgbClr val="FFFFFF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843277" y="6787745"/>
            <a:ext cx="4752795" cy="281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Create localized educational content.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Improve AI tools and analytics.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Strengthen ties with ministries and foundations.</a:t>
            </a:r>
          </a:p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b="1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Provide free teacher training and stay donation-funded.</a:t>
            </a:r>
          </a:p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endParaRPr lang="en-US" sz="2000" b="1">
              <a:solidFill>
                <a:srgbClr val="FFFFFF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565384" y="62045"/>
            <a:ext cx="7427474" cy="1465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51"/>
              </a:lnSpc>
            </a:pPr>
            <a:r>
              <a:rPr lang="en-US" sz="4179" b="1" spc="83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MARKET AND IMPLEMENTATION PLAN </a:t>
            </a:r>
          </a:p>
        </p:txBody>
      </p:sp>
      <p:sp>
        <p:nvSpPr>
          <p:cNvPr id="23" name="Freeform 23"/>
          <p:cNvSpPr/>
          <p:nvPr/>
        </p:nvSpPr>
        <p:spPr>
          <a:xfrm flipH="1" flipV="1">
            <a:off x="12682882" y="-164159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1110743" y="2490563"/>
            <a:ext cx="1572139" cy="422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Marketing 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2509972" y="1289057"/>
            <a:ext cx="3086100" cy="1249131"/>
            <a:chOff x="0" y="0"/>
            <a:chExt cx="812800" cy="32898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328989"/>
            </a:xfrm>
            <a:custGeom>
              <a:avLst/>
              <a:gdLst/>
              <a:ahLst/>
              <a:cxnLst/>
              <a:rect l="l" t="t" r="r" b="b"/>
              <a:pathLst>
                <a:path w="812800" h="328989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01048"/>
                  </a:lnTo>
                  <a:cubicBezTo>
                    <a:pt x="812800" y="234980"/>
                    <a:pt x="799321" y="267523"/>
                    <a:pt x="775327" y="291516"/>
                  </a:cubicBezTo>
                  <a:cubicBezTo>
                    <a:pt x="751333" y="315510"/>
                    <a:pt x="718791" y="328989"/>
                    <a:pt x="684859" y="328989"/>
                  </a:cubicBezTo>
                  <a:lnTo>
                    <a:pt x="127941" y="328989"/>
                  </a:lnTo>
                  <a:cubicBezTo>
                    <a:pt x="94009" y="328989"/>
                    <a:pt x="61467" y="315510"/>
                    <a:pt x="37473" y="291516"/>
                  </a:cubicBezTo>
                  <a:cubicBezTo>
                    <a:pt x="13479" y="267523"/>
                    <a:pt x="0" y="234980"/>
                    <a:pt x="0" y="2010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4987E6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812800" cy="367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b="1">
                  <a:solidFill>
                    <a:srgbClr val="FFFFFF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Khan Academy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193021" y="1687975"/>
            <a:ext cx="3086100" cy="1249131"/>
            <a:chOff x="0" y="0"/>
            <a:chExt cx="812800" cy="32898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328989"/>
            </a:xfrm>
            <a:custGeom>
              <a:avLst/>
              <a:gdLst/>
              <a:ahLst/>
              <a:cxnLst/>
              <a:rect l="l" t="t" r="r" b="b"/>
              <a:pathLst>
                <a:path w="812800" h="328989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01048"/>
                  </a:lnTo>
                  <a:cubicBezTo>
                    <a:pt x="812800" y="234980"/>
                    <a:pt x="799321" y="267523"/>
                    <a:pt x="775327" y="291516"/>
                  </a:cubicBezTo>
                  <a:cubicBezTo>
                    <a:pt x="751333" y="315510"/>
                    <a:pt x="718791" y="328989"/>
                    <a:pt x="684859" y="328989"/>
                  </a:cubicBezTo>
                  <a:lnTo>
                    <a:pt x="127941" y="328989"/>
                  </a:lnTo>
                  <a:cubicBezTo>
                    <a:pt x="94009" y="328989"/>
                    <a:pt x="61467" y="315510"/>
                    <a:pt x="37473" y="291516"/>
                  </a:cubicBezTo>
                  <a:cubicBezTo>
                    <a:pt x="13479" y="267523"/>
                    <a:pt x="0" y="234980"/>
                    <a:pt x="0" y="2010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4987E6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812800" cy="367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b="1">
                  <a:solidFill>
                    <a:srgbClr val="FFFFFF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Duolingo</a:t>
              </a:r>
            </a:p>
          </p:txBody>
        </p:sp>
      </p:grpSp>
      <p:sp>
        <p:nvSpPr>
          <p:cNvPr id="31" name="Freeform 31"/>
          <p:cNvSpPr/>
          <p:nvPr/>
        </p:nvSpPr>
        <p:spPr>
          <a:xfrm>
            <a:off x="691758" y="173267"/>
            <a:ext cx="1370856" cy="1368114"/>
          </a:xfrm>
          <a:custGeom>
            <a:avLst/>
            <a:gdLst/>
            <a:ahLst/>
            <a:cxnLst/>
            <a:rect l="l" t="t" r="r" b="b"/>
            <a:pathLst>
              <a:path w="1370856" h="1368114">
                <a:moveTo>
                  <a:pt x="0" y="0"/>
                </a:moveTo>
                <a:lnTo>
                  <a:pt x="1370855" y="0"/>
                </a:lnTo>
                <a:lnTo>
                  <a:pt x="1370855" y="1368114"/>
                </a:lnTo>
                <a:lnTo>
                  <a:pt x="0" y="13681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786906" y="3144688"/>
            <a:ext cx="8795646" cy="4570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89"/>
              </a:lnSpc>
            </a:pPr>
            <a:r>
              <a:rPr lang="en-US" sz="65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COMPETITIVE ANALYSIS WITH  KHAN ACADEMY AND DUOLINGO</a:t>
            </a:r>
          </a:p>
          <a:p>
            <a:pPr algn="l">
              <a:lnSpc>
                <a:spcPts val="5750"/>
              </a:lnSpc>
            </a:pPr>
            <a:endParaRPr lang="en-US" sz="65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8484493" y="9014056"/>
            <a:ext cx="2545888" cy="2545888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0345E4">
                  <a:alpha val="9804"/>
                </a:srgbClr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09825" y="3663893"/>
            <a:ext cx="2399437" cy="2284806"/>
          </a:xfrm>
          <a:custGeom>
            <a:avLst/>
            <a:gdLst/>
            <a:ahLst/>
            <a:cxnLst/>
            <a:rect l="l" t="t" r="r" b="b"/>
            <a:pathLst>
              <a:path w="2399437" h="2284806">
                <a:moveTo>
                  <a:pt x="0" y="0"/>
                </a:moveTo>
                <a:lnTo>
                  <a:pt x="2399437" y="0"/>
                </a:lnTo>
                <a:lnTo>
                  <a:pt x="2399437" y="2284806"/>
                </a:lnTo>
                <a:lnTo>
                  <a:pt x="0" y="22848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42" t="-13491" r="-4142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406581" y="7552760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0"/>
                </a:moveTo>
                <a:lnTo>
                  <a:pt x="5826380" y="0"/>
                </a:lnTo>
                <a:lnTo>
                  <a:pt x="5826380" y="3411080"/>
                </a:lnTo>
                <a:lnTo>
                  <a:pt x="0" y="34110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V="1">
            <a:off x="-406581" y="-676840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3411080"/>
                </a:moveTo>
                <a:lnTo>
                  <a:pt x="5826380" y="3411080"/>
                </a:lnTo>
                <a:lnTo>
                  <a:pt x="5826380" y="0"/>
                </a:lnTo>
                <a:lnTo>
                  <a:pt x="0" y="0"/>
                </a:lnTo>
                <a:lnTo>
                  <a:pt x="0" y="341108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2190858" y="-227440"/>
            <a:ext cx="6097142" cy="12022429"/>
            <a:chOff x="0" y="0"/>
            <a:chExt cx="3217809" cy="63449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17809" cy="6344920"/>
            </a:xfrm>
            <a:custGeom>
              <a:avLst/>
              <a:gdLst/>
              <a:ahLst/>
              <a:cxnLst/>
              <a:rect l="l" t="t" r="r" b="b"/>
              <a:pathLst>
                <a:path w="3217809" h="6344920">
                  <a:moveTo>
                    <a:pt x="2057053" y="6344920"/>
                  </a:moveTo>
                  <a:lnTo>
                    <a:pt x="0" y="6344920"/>
                  </a:lnTo>
                  <a:lnTo>
                    <a:pt x="0" y="1031240"/>
                  </a:lnTo>
                  <a:cubicBezTo>
                    <a:pt x="0" y="461010"/>
                    <a:pt x="518909" y="0"/>
                    <a:pt x="1160756" y="0"/>
                  </a:cubicBezTo>
                  <a:lnTo>
                    <a:pt x="3217809" y="0"/>
                  </a:lnTo>
                  <a:lnTo>
                    <a:pt x="3217809" y="5313680"/>
                  </a:lnTo>
                  <a:cubicBezTo>
                    <a:pt x="3217809" y="5883910"/>
                    <a:pt x="2698900" y="6344920"/>
                    <a:pt x="2057053" y="6344920"/>
                  </a:cubicBezTo>
                  <a:close/>
                </a:path>
              </a:pathLst>
            </a:custGeom>
            <a:blipFill>
              <a:blip r:embed="rId5"/>
              <a:stretch>
                <a:fillRect l="-86369" r="-109587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875919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0"/>
                </a:moveTo>
                <a:lnTo>
                  <a:pt x="5826380" y="0"/>
                </a:lnTo>
                <a:lnTo>
                  <a:pt x="5826380" y="3411081"/>
                </a:lnTo>
                <a:lnTo>
                  <a:pt x="0" y="34110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461620" y="0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973199" y="692325"/>
          <a:ext cx="14826978" cy="8902350"/>
        </p:xfrm>
        <a:graphic>
          <a:graphicData uri="http://schemas.openxmlformats.org/drawingml/2006/table">
            <a:tbl>
              <a:tblPr/>
              <a:tblGrid>
                <a:gridCol w="3155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5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61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83725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 dirty="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D6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D6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3725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3725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83725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83725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83725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 dirty="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6478102" y="2347032"/>
            <a:ext cx="2908587" cy="115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Fun, free, easy to use, engaging gamification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689339" y="818445"/>
            <a:ext cx="4815840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Khan Academy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213382" y="831326"/>
            <a:ext cx="3962369" cy="8742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Duolingo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3745144" y="2683193"/>
            <a:ext cx="14387827" cy="372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Strengths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796231" y="2487931"/>
            <a:ext cx="4261263" cy="763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High-quality academic content, trusted globally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02493" y="4033593"/>
            <a:ext cx="4255002" cy="763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Less interactive, relies on donations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-3745144" y="4228855"/>
            <a:ext cx="14387827" cy="372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Weaknesses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010180" y="4005653"/>
            <a:ext cx="3848226" cy="763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Limited grammar depth, repetitive lessons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71021" y="7098422"/>
            <a:ext cx="1913715" cy="763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Revenue Source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439006" y="5522377"/>
            <a:ext cx="2161128" cy="763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Competitive Edge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213383" y="5273114"/>
            <a:ext cx="3570868" cy="115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Strong brand, AI personalization, Duolingo English Test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4147" y="8671319"/>
            <a:ext cx="5539235" cy="372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Goal / Mission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802493" y="5577914"/>
            <a:ext cx="4589532" cy="763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Credibility, partnerships with schools &amp; governments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287538" y="6735837"/>
            <a:ext cx="3496713" cy="115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Ads, Premium (Duolingo Plus), English Test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621134" y="7293685"/>
            <a:ext cx="4617720" cy="372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Donations, Grants, Partnerships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287538" y="8522968"/>
            <a:ext cx="3570868" cy="763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Make language learning accessible for everyone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731925" y="8350558"/>
            <a:ext cx="4605989" cy="115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Provide free, world-class education for anyone, anywhere</a:t>
            </a:r>
          </a:p>
        </p:txBody>
      </p:sp>
      <p:sp>
        <p:nvSpPr>
          <p:cNvPr id="22" name="Freeform 22"/>
          <p:cNvSpPr/>
          <p:nvPr/>
        </p:nvSpPr>
        <p:spPr>
          <a:xfrm>
            <a:off x="2709286" y="692325"/>
            <a:ext cx="1620568" cy="1425070"/>
          </a:xfrm>
          <a:custGeom>
            <a:avLst/>
            <a:gdLst/>
            <a:ahLst/>
            <a:cxnLst/>
            <a:rect l="l" t="t" r="r" b="b"/>
            <a:pathLst>
              <a:path w="1620568" h="1425070">
                <a:moveTo>
                  <a:pt x="0" y="0"/>
                </a:moveTo>
                <a:lnTo>
                  <a:pt x="1620568" y="0"/>
                </a:lnTo>
                <a:lnTo>
                  <a:pt x="1620568" y="1425070"/>
                </a:lnTo>
                <a:lnTo>
                  <a:pt x="0" y="14250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3491"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34177" y="796196"/>
            <a:ext cx="9153823" cy="9208323"/>
            <a:chOff x="0" y="0"/>
            <a:chExt cx="2410883" cy="24252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0883" cy="2425237"/>
            </a:xfrm>
            <a:custGeom>
              <a:avLst/>
              <a:gdLst/>
              <a:ahLst/>
              <a:cxnLst/>
              <a:rect l="l" t="t" r="r" b="b"/>
              <a:pathLst>
                <a:path w="2410883" h="2425237">
                  <a:moveTo>
                    <a:pt x="0" y="0"/>
                  </a:moveTo>
                  <a:lnTo>
                    <a:pt x="2410883" y="0"/>
                  </a:lnTo>
                  <a:lnTo>
                    <a:pt x="2410883" y="2425237"/>
                  </a:lnTo>
                  <a:lnTo>
                    <a:pt x="0" y="242523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410883" cy="2472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5062" y="1675461"/>
            <a:ext cx="9518759" cy="7467461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548562" y="548864"/>
            <a:ext cx="5857055" cy="722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786"/>
              </a:lnSpc>
              <a:spcBef>
                <a:spcPct val="0"/>
              </a:spcBef>
            </a:pPr>
            <a:r>
              <a:rPr lang="en-US" sz="4822" b="1" spc="173">
                <a:solidFill>
                  <a:srgbClr val="0063A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Research </a:t>
            </a:r>
          </a:p>
        </p:txBody>
      </p:sp>
      <p:sp>
        <p:nvSpPr>
          <p:cNvPr id="7" name="Freeform 7"/>
          <p:cNvSpPr/>
          <p:nvPr/>
        </p:nvSpPr>
        <p:spPr>
          <a:xfrm flipH="1" flipV="1">
            <a:off x="13201650" y="-184905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0"/>
                </a:moveTo>
                <a:lnTo>
                  <a:pt x="0" y="3411080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176794" y="7782662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0"/>
                </a:moveTo>
                <a:lnTo>
                  <a:pt x="5826379" y="0"/>
                </a:lnTo>
                <a:lnTo>
                  <a:pt x="5826379" y="3411080"/>
                </a:lnTo>
                <a:lnTo>
                  <a:pt x="0" y="34110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92257" y="357292"/>
            <a:ext cx="1837184" cy="1615555"/>
          </a:xfrm>
          <a:custGeom>
            <a:avLst/>
            <a:gdLst/>
            <a:ahLst/>
            <a:cxnLst/>
            <a:rect l="l" t="t" r="r" b="b"/>
            <a:pathLst>
              <a:path w="1837184" h="1615555">
                <a:moveTo>
                  <a:pt x="0" y="0"/>
                </a:moveTo>
                <a:lnTo>
                  <a:pt x="1837184" y="0"/>
                </a:lnTo>
                <a:lnTo>
                  <a:pt x="1837184" y="1615555"/>
                </a:lnTo>
                <a:lnTo>
                  <a:pt x="0" y="16155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3491"/>
            </a:stretch>
          </a:blipFill>
        </p:spPr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1508" y="1611060"/>
            <a:ext cx="11213406" cy="7808034"/>
          </a:xfrm>
          <a:prstGeom prst="rect">
            <a:avLst/>
          </a:prstGeom>
        </p:spPr>
      </p:pic>
      <p:sp>
        <p:nvSpPr>
          <p:cNvPr id="11" name="Freeform 11"/>
          <p:cNvSpPr/>
          <p:nvPr/>
        </p:nvSpPr>
        <p:spPr>
          <a:xfrm>
            <a:off x="-1024394" y="7935062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0"/>
                </a:moveTo>
                <a:lnTo>
                  <a:pt x="5826379" y="0"/>
                </a:lnTo>
                <a:lnTo>
                  <a:pt x="5826379" y="3411080"/>
                </a:lnTo>
                <a:lnTo>
                  <a:pt x="0" y="34110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206155" y="7292818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0"/>
                </a:moveTo>
                <a:lnTo>
                  <a:pt x="5826380" y="0"/>
                </a:lnTo>
                <a:lnTo>
                  <a:pt x="5826380" y="3411081"/>
                </a:lnTo>
                <a:lnTo>
                  <a:pt x="0" y="34110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3830435" y="8417968"/>
            <a:ext cx="194310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63A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Duolingo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397079" y="8674826"/>
            <a:ext cx="316230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63A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Khan Academy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789285" y="9621721"/>
            <a:ext cx="10770094" cy="3618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50"/>
              </a:lnSpc>
            </a:pPr>
            <a:r>
              <a:rPr lang="en-US" sz="217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Source :</a:t>
            </a:r>
            <a:r>
              <a:rPr lang="en-US" sz="2179" dirty="0">
                <a:solidFill>
                  <a:srgbClr val="0063A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79" i="1" u="sng" dirty="0">
                <a:solidFill>
                  <a:srgbClr val="0063A1"/>
                </a:solidFill>
                <a:latin typeface="Arimo Italics"/>
                <a:ea typeface="Arimo Italics"/>
                <a:cs typeface="Arimo Italics"/>
                <a:sym typeface="Arimo Italics"/>
                <a:hlinkClick r:id="rId7" tooltip="https://www.softwareadvice.com/lms/duolingo-profile/vs/khan-academy/"/>
              </a:rPr>
              <a:t>https://www.softwareadvice.com/lms/duolingo-profile/vs/khan-academy/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86023" y="6580376"/>
            <a:ext cx="6331190" cy="3706624"/>
          </a:xfrm>
          <a:custGeom>
            <a:avLst/>
            <a:gdLst/>
            <a:ahLst/>
            <a:cxnLst/>
            <a:rect l="l" t="t" r="r" b="b"/>
            <a:pathLst>
              <a:path w="6331190" h="3706624">
                <a:moveTo>
                  <a:pt x="0" y="0"/>
                </a:moveTo>
                <a:lnTo>
                  <a:pt x="6331190" y="0"/>
                </a:lnTo>
                <a:lnTo>
                  <a:pt x="6331190" y="3706624"/>
                </a:lnTo>
                <a:lnTo>
                  <a:pt x="0" y="3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461620" y="0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467992" y="1664038"/>
            <a:ext cx="5451345" cy="1066413"/>
            <a:chOff x="0" y="0"/>
            <a:chExt cx="1435745" cy="2808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35745" cy="280866"/>
            </a:xfrm>
            <a:custGeom>
              <a:avLst/>
              <a:gdLst/>
              <a:ahLst/>
              <a:cxnLst/>
              <a:rect l="l" t="t" r="r" b="b"/>
              <a:pathLst>
                <a:path w="1435745" h="280866">
                  <a:moveTo>
                    <a:pt x="72429" y="0"/>
                  </a:moveTo>
                  <a:lnTo>
                    <a:pt x="1363316" y="0"/>
                  </a:lnTo>
                  <a:cubicBezTo>
                    <a:pt x="1382525" y="0"/>
                    <a:pt x="1400948" y="7631"/>
                    <a:pt x="1414531" y="21214"/>
                  </a:cubicBezTo>
                  <a:cubicBezTo>
                    <a:pt x="1428114" y="34797"/>
                    <a:pt x="1435745" y="53220"/>
                    <a:pt x="1435745" y="72429"/>
                  </a:cubicBezTo>
                  <a:lnTo>
                    <a:pt x="1435745" y="208437"/>
                  </a:lnTo>
                  <a:cubicBezTo>
                    <a:pt x="1435745" y="248438"/>
                    <a:pt x="1403317" y="280866"/>
                    <a:pt x="1363316" y="280866"/>
                  </a:cubicBezTo>
                  <a:lnTo>
                    <a:pt x="72429" y="280866"/>
                  </a:lnTo>
                  <a:cubicBezTo>
                    <a:pt x="53220" y="280866"/>
                    <a:pt x="34797" y="273235"/>
                    <a:pt x="21214" y="259652"/>
                  </a:cubicBezTo>
                  <a:cubicBezTo>
                    <a:pt x="7631" y="246069"/>
                    <a:pt x="0" y="227646"/>
                    <a:pt x="0" y="208437"/>
                  </a:cubicBezTo>
                  <a:lnTo>
                    <a:pt x="0" y="72429"/>
                  </a:lnTo>
                  <a:cubicBezTo>
                    <a:pt x="0" y="53220"/>
                    <a:pt x="7631" y="34797"/>
                    <a:pt x="21214" y="21214"/>
                  </a:cubicBezTo>
                  <a:cubicBezTo>
                    <a:pt x="34797" y="7631"/>
                    <a:pt x="53220" y="0"/>
                    <a:pt x="72429" y="0"/>
                  </a:cubicBezTo>
                  <a:close/>
                </a:path>
              </a:pathLst>
            </a:custGeom>
            <a:solidFill>
              <a:srgbClr val="4987E6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435745" cy="318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b="1">
                  <a:solidFill>
                    <a:srgbClr val="FFFFFF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Main Feature 1 (Music)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782564" y="295924"/>
            <a:ext cx="1370856" cy="1368114"/>
          </a:xfrm>
          <a:custGeom>
            <a:avLst/>
            <a:gdLst/>
            <a:ahLst/>
            <a:cxnLst/>
            <a:rect l="l" t="t" r="r" b="b"/>
            <a:pathLst>
              <a:path w="1370856" h="1368114">
                <a:moveTo>
                  <a:pt x="0" y="0"/>
                </a:moveTo>
                <a:lnTo>
                  <a:pt x="1370856" y="0"/>
                </a:lnTo>
                <a:lnTo>
                  <a:pt x="1370856" y="1368114"/>
                </a:lnTo>
                <a:lnTo>
                  <a:pt x="0" y="13681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153420" y="2730451"/>
            <a:ext cx="13221391" cy="7357796"/>
          </a:xfrm>
          <a:custGeom>
            <a:avLst/>
            <a:gdLst/>
            <a:ahLst/>
            <a:cxnLst/>
            <a:rect l="l" t="t" r="r" b="b"/>
            <a:pathLst>
              <a:path w="13221391" h="7357796">
                <a:moveTo>
                  <a:pt x="0" y="0"/>
                </a:moveTo>
                <a:lnTo>
                  <a:pt x="13221390" y="0"/>
                </a:lnTo>
                <a:lnTo>
                  <a:pt x="13221390" y="7357797"/>
                </a:lnTo>
                <a:lnTo>
                  <a:pt x="0" y="73577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650" b="-650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379572" y="752533"/>
            <a:ext cx="9853113" cy="635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11"/>
              </a:lnSpc>
              <a:spcBef>
                <a:spcPct val="0"/>
              </a:spcBef>
            </a:pPr>
            <a:r>
              <a:rPr lang="en-US" sz="4176" b="1" spc="150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Our Unique Selling Point (USP)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86023" y="6580376"/>
            <a:ext cx="6331190" cy="3706624"/>
          </a:xfrm>
          <a:custGeom>
            <a:avLst/>
            <a:gdLst/>
            <a:ahLst/>
            <a:cxnLst/>
            <a:rect l="l" t="t" r="r" b="b"/>
            <a:pathLst>
              <a:path w="6331190" h="3706624">
                <a:moveTo>
                  <a:pt x="0" y="0"/>
                </a:moveTo>
                <a:lnTo>
                  <a:pt x="6331190" y="0"/>
                </a:lnTo>
                <a:lnTo>
                  <a:pt x="6331190" y="3706624"/>
                </a:lnTo>
                <a:lnTo>
                  <a:pt x="0" y="3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461620" y="0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467992" y="1664038"/>
            <a:ext cx="5451345" cy="1066413"/>
            <a:chOff x="0" y="0"/>
            <a:chExt cx="1435745" cy="2808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35745" cy="280866"/>
            </a:xfrm>
            <a:custGeom>
              <a:avLst/>
              <a:gdLst/>
              <a:ahLst/>
              <a:cxnLst/>
              <a:rect l="l" t="t" r="r" b="b"/>
              <a:pathLst>
                <a:path w="1435745" h="280866">
                  <a:moveTo>
                    <a:pt x="72429" y="0"/>
                  </a:moveTo>
                  <a:lnTo>
                    <a:pt x="1363316" y="0"/>
                  </a:lnTo>
                  <a:cubicBezTo>
                    <a:pt x="1382525" y="0"/>
                    <a:pt x="1400948" y="7631"/>
                    <a:pt x="1414531" y="21214"/>
                  </a:cubicBezTo>
                  <a:cubicBezTo>
                    <a:pt x="1428114" y="34797"/>
                    <a:pt x="1435745" y="53220"/>
                    <a:pt x="1435745" y="72429"/>
                  </a:cubicBezTo>
                  <a:lnTo>
                    <a:pt x="1435745" y="208437"/>
                  </a:lnTo>
                  <a:cubicBezTo>
                    <a:pt x="1435745" y="248438"/>
                    <a:pt x="1403317" y="280866"/>
                    <a:pt x="1363316" y="280866"/>
                  </a:cubicBezTo>
                  <a:lnTo>
                    <a:pt x="72429" y="280866"/>
                  </a:lnTo>
                  <a:cubicBezTo>
                    <a:pt x="53220" y="280866"/>
                    <a:pt x="34797" y="273235"/>
                    <a:pt x="21214" y="259652"/>
                  </a:cubicBezTo>
                  <a:cubicBezTo>
                    <a:pt x="7631" y="246069"/>
                    <a:pt x="0" y="227646"/>
                    <a:pt x="0" y="208437"/>
                  </a:cubicBezTo>
                  <a:lnTo>
                    <a:pt x="0" y="72429"/>
                  </a:lnTo>
                  <a:cubicBezTo>
                    <a:pt x="0" y="53220"/>
                    <a:pt x="7631" y="34797"/>
                    <a:pt x="21214" y="21214"/>
                  </a:cubicBezTo>
                  <a:cubicBezTo>
                    <a:pt x="34797" y="7631"/>
                    <a:pt x="53220" y="0"/>
                    <a:pt x="72429" y="0"/>
                  </a:cubicBezTo>
                  <a:close/>
                </a:path>
              </a:pathLst>
            </a:custGeom>
            <a:solidFill>
              <a:srgbClr val="4987E6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435745" cy="318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b="1">
                  <a:solidFill>
                    <a:srgbClr val="FFFFFF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Main Feature 2 (chat with friends)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782564" y="295924"/>
            <a:ext cx="1370856" cy="1368114"/>
          </a:xfrm>
          <a:custGeom>
            <a:avLst/>
            <a:gdLst/>
            <a:ahLst/>
            <a:cxnLst/>
            <a:rect l="l" t="t" r="r" b="b"/>
            <a:pathLst>
              <a:path w="1370856" h="1368114">
                <a:moveTo>
                  <a:pt x="0" y="0"/>
                </a:moveTo>
                <a:lnTo>
                  <a:pt x="1370856" y="0"/>
                </a:lnTo>
                <a:lnTo>
                  <a:pt x="1370856" y="1368114"/>
                </a:lnTo>
                <a:lnTo>
                  <a:pt x="0" y="13681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808396" y="2706766"/>
            <a:ext cx="13345693" cy="7456906"/>
          </a:xfrm>
          <a:custGeom>
            <a:avLst/>
            <a:gdLst/>
            <a:ahLst/>
            <a:cxnLst/>
            <a:rect l="l" t="t" r="r" b="b"/>
            <a:pathLst>
              <a:path w="13345693" h="7456906">
                <a:moveTo>
                  <a:pt x="0" y="0"/>
                </a:moveTo>
                <a:lnTo>
                  <a:pt x="13345693" y="0"/>
                </a:lnTo>
                <a:lnTo>
                  <a:pt x="13345693" y="7456906"/>
                </a:lnTo>
                <a:lnTo>
                  <a:pt x="0" y="74569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379572" y="752533"/>
            <a:ext cx="9853113" cy="635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11"/>
              </a:lnSpc>
              <a:spcBef>
                <a:spcPct val="0"/>
              </a:spcBef>
            </a:pPr>
            <a:r>
              <a:rPr lang="en-US" sz="4176" b="1" spc="150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Our Unique Selling Point (USP)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86023" y="6580376"/>
            <a:ext cx="6331190" cy="3706624"/>
          </a:xfrm>
          <a:custGeom>
            <a:avLst/>
            <a:gdLst/>
            <a:ahLst/>
            <a:cxnLst/>
            <a:rect l="l" t="t" r="r" b="b"/>
            <a:pathLst>
              <a:path w="6331190" h="3706624">
                <a:moveTo>
                  <a:pt x="0" y="0"/>
                </a:moveTo>
                <a:lnTo>
                  <a:pt x="6331190" y="0"/>
                </a:lnTo>
                <a:lnTo>
                  <a:pt x="6331190" y="3706624"/>
                </a:lnTo>
                <a:lnTo>
                  <a:pt x="0" y="3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461620" y="0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467992" y="1664038"/>
            <a:ext cx="5838137" cy="1066413"/>
            <a:chOff x="0" y="0"/>
            <a:chExt cx="1537616" cy="2808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37616" cy="280866"/>
            </a:xfrm>
            <a:custGeom>
              <a:avLst/>
              <a:gdLst/>
              <a:ahLst/>
              <a:cxnLst/>
              <a:rect l="l" t="t" r="r" b="b"/>
              <a:pathLst>
                <a:path w="1537616" h="280866">
                  <a:moveTo>
                    <a:pt x="67631" y="0"/>
                  </a:moveTo>
                  <a:lnTo>
                    <a:pt x="1469986" y="0"/>
                  </a:lnTo>
                  <a:cubicBezTo>
                    <a:pt x="1507337" y="0"/>
                    <a:pt x="1537616" y="30279"/>
                    <a:pt x="1537616" y="67631"/>
                  </a:cubicBezTo>
                  <a:lnTo>
                    <a:pt x="1537616" y="213235"/>
                  </a:lnTo>
                  <a:cubicBezTo>
                    <a:pt x="1537616" y="231172"/>
                    <a:pt x="1530491" y="248374"/>
                    <a:pt x="1517808" y="261057"/>
                  </a:cubicBezTo>
                  <a:cubicBezTo>
                    <a:pt x="1505125" y="273741"/>
                    <a:pt x="1487922" y="280866"/>
                    <a:pt x="1469986" y="280866"/>
                  </a:cubicBezTo>
                  <a:lnTo>
                    <a:pt x="67631" y="280866"/>
                  </a:lnTo>
                  <a:cubicBezTo>
                    <a:pt x="49694" y="280866"/>
                    <a:pt x="32492" y="273741"/>
                    <a:pt x="19809" y="261057"/>
                  </a:cubicBezTo>
                  <a:cubicBezTo>
                    <a:pt x="7125" y="248374"/>
                    <a:pt x="0" y="231172"/>
                    <a:pt x="0" y="213235"/>
                  </a:cubicBezTo>
                  <a:lnTo>
                    <a:pt x="0" y="67631"/>
                  </a:lnTo>
                  <a:cubicBezTo>
                    <a:pt x="0" y="49694"/>
                    <a:pt x="7125" y="32492"/>
                    <a:pt x="19809" y="19809"/>
                  </a:cubicBezTo>
                  <a:cubicBezTo>
                    <a:pt x="32492" y="7125"/>
                    <a:pt x="49694" y="0"/>
                    <a:pt x="67631" y="0"/>
                  </a:cubicBezTo>
                  <a:close/>
                </a:path>
              </a:pathLst>
            </a:custGeom>
            <a:solidFill>
              <a:srgbClr val="4987E6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537616" cy="318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b="1">
                  <a:solidFill>
                    <a:srgbClr val="FFFFFF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Main Feature 2 (chat in Community)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782564" y="295924"/>
            <a:ext cx="1370856" cy="1368114"/>
          </a:xfrm>
          <a:custGeom>
            <a:avLst/>
            <a:gdLst/>
            <a:ahLst/>
            <a:cxnLst/>
            <a:rect l="l" t="t" r="r" b="b"/>
            <a:pathLst>
              <a:path w="1370856" h="1368114">
                <a:moveTo>
                  <a:pt x="0" y="0"/>
                </a:moveTo>
                <a:lnTo>
                  <a:pt x="1370856" y="0"/>
                </a:lnTo>
                <a:lnTo>
                  <a:pt x="1370856" y="1368114"/>
                </a:lnTo>
                <a:lnTo>
                  <a:pt x="0" y="13681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977514" y="2730451"/>
            <a:ext cx="13141824" cy="7556549"/>
          </a:xfrm>
          <a:custGeom>
            <a:avLst/>
            <a:gdLst/>
            <a:ahLst/>
            <a:cxnLst/>
            <a:rect l="l" t="t" r="r" b="b"/>
            <a:pathLst>
              <a:path w="13141824" h="7556549">
                <a:moveTo>
                  <a:pt x="0" y="0"/>
                </a:moveTo>
                <a:lnTo>
                  <a:pt x="13141824" y="0"/>
                </a:lnTo>
                <a:lnTo>
                  <a:pt x="13141824" y="7556549"/>
                </a:lnTo>
                <a:lnTo>
                  <a:pt x="0" y="75565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379572" y="752533"/>
            <a:ext cx="9853113" cy="635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11"/>
              </a:lnSpc>
              <a:spcBef>
                <a:spcPct val="0"/>
              </a:spcBef>
            </a:pPr>
            <a:r>
              <a:rPr lang="en-US" sz="4176" b="1" spc="150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Our Unique Selling Point (USP)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86023" y="6580376"/>
            <a:ext cx="6331190" cy="3706624"/>
          </a:xfrm>
          <a:custGeom>
            <a:avLst/>
            <a:gdLst/>
            <a:ahLst/>
            <a:cxnLst/>
            <a:rect l="l" t="t" r="r" b="b"/>
            <a:pathLst>
              <a:path w="6331190" h="3706624">
                <a:moveTo>
                  <a:pt x="0" y="0"/>
                </a:moveTo>
                <a:lnTo>
                  <a:pt x="6331190" y="0"/>
                </a:lnTo>
                <a:lnTo>
                  <a:pt x="6331190" y="3706624"/>
                </a:lnTo>
                <a:lnTo>
                  <a:pt x="0" y="3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461620" y="0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467992" y="1664038"/>
            <a:ext cx="5451345" cy="1066413"/>
            <a:chOff x="0" y="0"/>
            <a:chExt cx="1435745" cy="2808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35745" cy="280866"/>
            </a:xfrm>
            <a:custGeom>
              <a:avLst/>
              <a:gdLst/>
              <a:ahLst/>
              <a:cxnLst/>
              <a:rect l="l" t="t" r="r" b="b"/>
              <a:pathLst>
                <a:path w="1435745" h="280866">
                  <a:moveTo>
                    <a:pt x="72429" y="0"/>
                  </a:moveTo>
                  <a:lnTo>
                    <a:pt x="1363316" y="0"/>
                  </a:lnTo>
                  <a:cubicBezTo>
                    <a:pt x="1382525" y="0"/>
                    <a:pt x="1400948" y="7631"/>
                    <a:pt x="1414531" y="21214"/>
                  </a:cubicBezTo>
                  <a:cubicBezTo>
                    <a:pt x="1428114" y="34797"/>
                    <a:pt x="1435745" y="53220"/>
                    <a:pt x="1435745" y="72429"/>
                  </a:cubicBezTo>
                  <a:lnTo>
                    <a:pt x="1435745" y="208437"/>
                  </a:lnTo>
                  <a:cubicBezTo>
                    <a:pt x="1435745" y="248438"/>
                    <a:pt x="1403317" y="280866"/>
                    <a:pt x="1363316" y="280866"/>
                  </a:cubicBezTo>
                  <a:lnTo>
                    <a:pt x="72429" y="280866"/>
                  </a:lnTo>
                  <a:cubicBezTo>
                    <a:pt x="53220" y="280866"/>
                    <a:pt x="34797" y="273235"/>
                    <a:pt x="21214" y="259652"/>
                  </a:cubicBezTo>
                  <a:cubicBezTo>
                    <a:pt x="7631" y="246069"/>
                    <a:pt x="0" y="227646"/>
                    <a:pt x="0" y="208437"/>
                  </a:cubicBezTo>
                  <a:lnTo>
                    <a:pt x="0" y="72429"/>
                  </a:lnTo>
                  <a:cubicBezTo>
                    <a:pt x="0" y="53220"/>
                    <a:pt x="7631" y="34797"/>
                    <a:pt x="21214" y="21214"/>
                  </a:cubicBezTo>
                  <a:cubicBezTo>
                    <a:pt x="34797" y="7631"/>
                    <a:pt x="53220" y="0"/>
                    <a:pt x="72429" y="0"/>
                  </a:cubicBezTo>
                  <a:close/>
                </a:path>
              </a:pathLst>
            </a:custGeom>
            <a:solidFill>
              <a:srgbClr val="4987E6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435745" cy="318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b="1">
                  <a:solidFill>
                    <a:srgbClr val="FFFFFF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Main Feature 3 ( Make own notes)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782564" y="295924"/>
            <a:ext cx="1370856" cy="1368114"/>
          </a:xfrm>
          <a:custGeom>
            <a:avLst/>
            <a:gdLst/>
            <a:ahLst/>
            <a:cxnLst/>
            <a:rect l="l" t="t" r="r" b="b"/>
            <a:pathLst>
              <a:path w="1370856" h="1368114">
                <a:moveTo>
                  <a:pt x="0" y="0"/>
                </a:moveTo>
                <a:lnTo>
                  <a:pt x="1370856" y="0"/>
                </a:lnTo>
                <a:lnTo>
                  <a:pt x="1370856" y="1368114"/>
                </a:lnTo>
                <a:lnTo>
                  <a:pt x="0" y="13681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812366" y="2730451"/>
            <a:ext cx="13981277" cy="7812039"/>
          </a:xfrm>
          <a:custGeom>
            <a:avLst/>
            <a:gdLst/>
            <a:ahLst/>
            <a:cxnLst/>
            <a:rect l="l" t="t" r="r" b="b"/>
            <a:pathLst>
              <a:path w="13981277" h="7812039">
                <a:moveTo>
                  <a:pt x="0" y="0"/>
                </a:moveTo>
                <a:lnTo>
                  <a:pt x="13981278" y="0"/>
                </a:lnTo>
                <a:lnTo>
                  <a:pt x="13981278" y="7812039"/>
                </a:lnTo>
                <a:lnTo>
                  <a:pt x="0" y="78120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379572" y="752533"/>
            <a:ext cx="9853113" cy="635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11"/>
              </a:lnSpc>
              <a:spcBef>
                <a:spcPct val="0"/>
              </a:spcBef>
            </a:pPr>
            <a:r>
              <a:rPr lang="en-US" sz="4176" b="1" spc="150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Our Unique Selling Point (USP)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86023" y="6580376"/>
            <a:ext cx="6331190" cy="3706624"/>
          </a:xfrm>
          <a:custGeom>
            <a:avLst/>
            <a:gdLst/>
            <a:ahLst/>
            <a:cxnLst/>
            <a:rect l="l" t="t" r="r" b="b"/>
            <a:pathLst>
              <a:path w="6331190" h="3706624">
                <a:moveTo>
                  <a:pt x="0" y="0"/>
                </a:moveTo>
                <a:lnTo>
                  <a:pt x="6331190" y="0"/>
                </a:lnTo>
                <a:lnTo>
                  <a:pt x="6331190" y="3706624"/>
                </a:lnTo>
                <a:lnTo>
                  <a:pt x="0" y="3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461620" y="0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467992" y="1664038"/>
            <a:ext cx="5451345" cy="1066413"/>
            <a:chOff x="0" y="0"/>
            <a:chExt cx="1435745" cy="2808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35745" cy="280866"/>
            </a:xfrm>
            <a:custGeom>
              <a:avLst/>
              <a:gdLst/>
              <a:ahLst/>
              <a:cxnLst/>
              <a:rect l="l" t="t" r="r" b="b"/>
              <a:pathLst>
                <a:path w="1435745" h="280866">
                  <a:moveTo>
                    <a:pt x="72429" y="0"/>
                  </a:moveTo>
                  <a:lnTo>
                    <a:pt x="1363316" y="0"/>
                  </a:lnTo>
                  <a:cubicBezTo>
                    <a:pt x="1382525" y="0"/>
                    <a:pt x="1400948" y="7631"/>
                    <a:pt x="1414531" y="21214"/>
                  </a:cubicBezTo>
                  <a:cubicBezTo>
                    <a:pt x="1428114" y="34797"/>
                    <a:pt x="1435745" y="53220"/>
                    <a:pt x="1435745" y="72429"/>
                  </a:cubicBezTo>
                  <a:lnTo>
                    <a:pt x="1435745" y="208437"/>
                  </a:lnTo>
                  <a:cubicBezTo>
                    <a:pt x="1435745" y="248438"/>
                    <a:pt x="1403317" y="280866"/>
                    <a:pt x="1363316" y="280866"/>
                  </a:cubicBezTo>
                  <a:lnTo>
                    <a:pt x="72429" y="280866"/>
                  </a:lnTo>
                  <a:cubicBezTo>
                    <a:pt x="53220" y="280866"/>
                    <a:pt x="34797" y="273235"/>
                    <a:pt x="21214" y="259652"/>
                  </a:cubicBezTo>
                  <a:cubicBezTo>
                    <a:pt x="7631" y="246069"/>
                    <a:pt x="0" y="227646"/>
                    <a:pt x="0" y="208437"/>
                  </a:cubicBezTo>
                  <a:lnTo>
                    <a:pt x="0" y="72429"/>
                  </a:lnTo>
                  <a:cubicBezTo>
                    <a:pt x="0" y="53220"/>
                    <a:pt x="7631" y="34797"/>
                    <a:pt x="21214" y="21214"/>
                  </a:cubicBezTo>
                  <a:cubicBezTo>
                    <a:pt x="34797" y="7631"/>
                    <a:pt x="53220" y="0"/>
                    <a:pt x="72429" y="0"/>
                  </a:cubicBezTo>
                  <a:close/>
                </a:path>
              </a:pathLst>
            </a:custGeom>
            <a:solidFill>
              <a:srgbClr val="4987E6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435745" cy="318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b="1">
                  <a:solidFill>
                    <a:srgbClr val="FFFFFF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Main Feature 4 (Watch calendar)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782564" y="295924"/>
            <a:ext cx="1370856" cy="1368114"/>
          </a:xfrm>
          <a:custGeom>
            <a:avLst/>
            <a:gdLst/>
            <a:ahLst/>
            <a:cxnLst/>
            <a:rect l="l" t="t" r="r" b="b"/>
            <a:pathLst>
              <a:path w="1370856" h="1368114">
                <a:moveTo>
                  <a:pt x="0" y="0"/>
                </a:moveTo>
                <a:lnTo>
                  <a:pt x="1370856" y="0"/>
                </a:lnTo>
                <a:lnTo>
                  <a:pt x="1370856" y="1368114"/>
                </a:lnTo>
                <a:lnTo>
                  <a:pt x="0" y="13681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153420" y="2730451"/>
            <a:ext cx="13305521" cy="7500987"/>
          </a:xfrm>
          <a:custGeom>
            <a:avLst/>
            <a:gdLst/>
            <a:ahLst/>
            <a:cxnLst/>
            <a:rect l="l" t="t" r="r" b="b"/>
            <a:pathLst>
              <a:path w="13305521" h="7500987">
                <a:moveTo>
                  <a:pt x="0" y="0"/>
                </a:moveTo>
                <a:lnTo>
                  <a:pt x="13305521" y="0"/>
                </a:lnTo>
                <a:lnTo>
                  <a:pt x="13305521" y="7500988"/>
                </a:lnTo>
                <a:lnTo>
                  <a:pt x="0" y="75009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379572" y="752533"/>
            <a:ext cx="9853113" cy="635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11"/>
              </a:lnSpc>
              <a:spcBef>
                <a:spcPct val="0"/>
              </a:spcBef>
            </a:pPr>
            <a:r>
              <a:rPr lang="en-US" sz="4176" b="1" spc="150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Our Unique Selling Point (USP)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86023" y="6580376"/>
            <a:ext cx="6331190" cy="3706624"/>
          </a:xfrm>
          <a:custGeom>
            <a:avLst/>
            <a:gdLst/>
            <a:ahLst/>
            <a:cxnLst/>
            <a:rect l="l" t="t" r="r" b="b"/>
            <a:pathLst>
              <a:path w="6331190" h="3706624">
                <a:moveTo>
                  <a:pt x="0" y="0"/>
                </a:moveTo>
                <a:lnTo>
                  <a:pt x="6331190" y="0"/>
                </a:lnTo>
                <a:lnTo>
                  <a:pt x="6331190" y="3706624"/>
                </a:lnTo>
                <a:lnTo>
                  <a:pt x="0" y="3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461620" y="0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467992" y="1664038"/>
            <a:ext cx="5451345" cy="1066413"/>
            <a:chOff x="0" y="0"/>
            <a:chExt cx="1435745" cy="2808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35745" cy="280866"/>
            </a:xfrm>
            <a:custGeom>
              <a:avLst/>
              <a:gdLst/>
              <a:ahLst/>
              <a:cxnLst/>
              <a:rect l="l" t="t" r="r" b="b"/>
              <a:pathLst>
                <a:path w="1435745" h="280866">
                  <a:moveTo>
                    <a:pt x="72429" y="0"/>
                  </a:moveTo>
                  <a:lnTo>
                    <a:pt x="1363316" y="0"/>
                  </a:lnTo>
                  <a:cubicBezTo>
                    <a:pt x="1382525" y="0"/>
                    <a:pt x="1400948" y="7631"/>
                    <a:pt x="1414531" y="21214"/>
                  </a:cubicBezTo>
                  <a:cubicBezTo>
                    <a:pt x="1428114" y="34797"/>
                    <a:pt x="1435745" y="53220"/>
                    <a:pt x="1435745" y="72429"/>
                  </a:cubicBezTo>
                  <a:lnTo>
                    <a:pt x="1435745" y="208437"/>
                  </a:lnTo>
                  <a:cubicBezTo>
                    <a:pt x="1435745" y="248438"/>
                    <a:pt x="1403317" y="280866"/>
                    <a:pt x="1363316" y="280866"/>
                  </a:cubicBezTo>
                  <a:lnTo>
                    <a:pt x="72429" y="280866"/>
                  </a:lnTo>
                  <a:cubicBezTo>
                    <a:pt x="53220" y="280866"/>
                    <a:pt x="34797" y="273235"/>
                    <a:pt x="21214" y="259652"/>
                  </a:cubicBezTo>
                  <a:cubicBezTo>
                    <a:pt x="7631" y="246069"/>
                    <a:pt x="0" y="227646"/>
                    <a:pt x="0" y="208437"/>
                  </a:cubicBezTo>
                  <a:lnTo>
                    <a:pt x="0" y="72429"/>
                  </a:lnTo>
                  <a:cubicBezTo>
                    <a:pt x="0" y="53220"/>
                    <a:pt x="7631" y="34797"/>
                    <a:pt x="21214" y="21214"/>
                  </a:cubicBezTo>
                  <a:cubicBezTo>
                    <a:pt x="34797" y="7631"/>
                    <a:pt x="53220" y="0"/>
                    <a:pt x="72429" y="0"/>
                  </a:cubicBezTo>
                  <a:close/>
                </a:path>
              </a:pathLst>
            </a:custGeom>
            <a:solidFill>
              <a:srgbClr val="4987E6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435745" cy="318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b="1">
                  <a:solidFill>
                    <a:srgbClr val="FFFFFF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Main Feature 5 ( Milestome)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782564" y="295924"/>
            <a:ext cx="1370856" cy="1368114"/>
          </a:xfrm>
          <a:custGeom>
            <a:avLst/>
            <a:gdLst/>
            <a:ahLst/>
            <a:cxnLst/>
            <a:rect l="l" t="t" r="r" b="b"/>
            <a:pathLst>
              <a:path w="1370856" h="1368114">
                <a:moveTo>
                  <a:pt x="0" y="0"/>
                </a:moveTo>
                <a:lnTo>
                  <a:pt x="1370856" y="0"/>
                </a:lnTo>
                <a:lnTo>
                  <a:pt x="1370856" y="1368114"/>
                </a:lnTo>
                <a:lnTo>
                  <a:pt x="0" y="13681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050904" y="2730451"/>
            <a:ext cx="13323906" cy="7528007"/>
          </a:xfrm>
          <a:custGeom>
            <a:avLst/>
            <a:gdLst/>
            <a:ahLst/>
            <a:cxnLst/>
            <a:rect l="l" t="t" r="r" b="b"/>
            <a:pathLst>
              <a:path w="13323906" h="7528007">
                <a:moveTo>
                  <a:pt x="0" y="0"/>
                </a:moveTo>
                <a:lnTo>
                  <a:pt x="13323906" y="0"/>
                </a:lnTo>
                <a:lnTo>
                  <a:pt x="13323906" y="7528007"/>
                </a:lnTo>
                <a:lnTo>
                  <a:pt x="0" y="75280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379572" y="752533"/>
            <a:ext cx="9853113" cy="635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11"/>
              </a:lnSpc>
              <a:spcBef>
                <a:spcPct val="0"/>
              </a:spcBef>
            </a:pPr>
            <a:r>
              <a:rPr lang="en-US" sz="4176" b="1" spc="150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Our Unique Selling Point (USP)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24739" y="539339"/>
            <a:ext cx="9153823" cy="9208323"/>
            <a:chOff x="0" y="0"/>
            <a:chExt cx="2410883" cy="24252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0883" cy="2425237"/>
            </a:xfrm>
            <a:custGeom>
              <a:avLst/>
              <a:gdLst/>
              <a:ahLst/>
              <a:cxnLst/>
              <a:rect l="l" t="t" r="r" b="b"/>
              <a:pathLst>
                <a:path w="2410883" h="2425237">
                  <a:moveTo>
                    <a:pt x="0" y="0"/>
                  </a:moveTo>
                  <a:lnTo>
                    <a:pt x="2410883" y="0"/>
                  </a:lnTo>
                  <a:lnTo>
                    <a:pt x="2410883" y="2425237"/>
                  </a:lnTo>
                  <a:lnTo>
                    <a:pt x="0" y="242523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410883" cy="2472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924526" y="8042121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0"/>
                </a:moveTo>
                <a:lnTo>
                  <a:pt x="5826379" y="0"/>
                </a:lnTo>
                <a:lnTo>
                  <a:pt x="5826379" y="3411081"/>
                </a:lnTo>
                <a:lnTo>
                  <a:pt x="0" y="34110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2461620" y="-790965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0"/>
                </a:moveTo>
                <a:lnTo>
                  <a:pt x="0" y="3411080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0108" y="145088"/>
            <a:ext cx="1837184" cy="1615555"/>
          </a:xfrm>
          <a:custGeom>
            <a:avLst/>
            <a:gdLst/>
            <a:ahLst/>
            <a:cxnLst/>
            <a:rect l="l" t="t" r="r" b="b"/>
            <a:pathLst>
              <a:path w="1837184" h="1615555">
                <a:moveTo>
                  <a:pt x="0" y="0"/>
                </a:moveTo>
                <a:lnTo>
                  <a:pt x="1837184" y="0"/>
                </a:lnTo>
                <a:lnTo>
                  <a:pt x="1837184" y="1615555"/>
                </a:lnTo>
                <a:lnTo>
                  <a:pt x="0" y="16155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3491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1081" y="3878388"/>
            <a:ext cx="3755164" cy="3549185"/>
          </a:xfrm>
          <a:custGeom>
            <a:avLst/>
            <a:gdLst/>
            <a:ahLst/>
            <a:cxnLst/>
            <a:rect l="l" t="t" r="r" b="b"/>
            <a:pathLst>
              <a:path w="3755164" h="3549185">
                <a:moveTo>
                  <a:pt x="0" y="0"/>
                </a:moveTo>
                <a:lnTo>
                  <a:pt x="3755165" y="0"/>
                </a:lnTo>
                <a:lnTo>
                  <a:pt x="3755165" y="3549185"/>
                </a:lnTo>
                <a:lnTo>
                  <a:pt x="0" y="35491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068244" y="1505597"/>
            <a:ext cx="11441865" cy="7751864"/>
          </a:xfrm>
          <a:custGeom>
            <a:avLst/>
            <a:gdLst/>
            <a:ahLst/>
            <a:cxnLst/>
            <a:rect l="l" t="t" r="r" b="b"/>
            <a:pathLst>
              <a:path w="11441865" h="7751864">
                <a:moveTo>
                  <a:pt x="0" y="0"/>
                </a:moveTo>
                <a:lnTo>
                  <a:pt x="11441865" y="0"/>
                </a:lnTo>
                <a:lnTo>
                  <a:pt x="11441865" y="7751864"/>
                </a:lnTo>
                <a:lnTo>
                  <a:pt x="0" y="77518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122668" y="330644"/>
            <a:ext cx="7391400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Target User (Duolingo)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45987" y="9497694"/>
            <a:ext cx="18886379" cy="78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Source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</a:t>
            </a:r>
            <a:r>
              <a:rPr lang="en-US" sz="2299" i="1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</a:t>
            </a:r>
            <a:r>
              <a:rPr lang="en-US" sz="2299" i="1" u="sng">
                <a:solidFill>
                  <a:srgbClr val="0345E4"/>
                </a:solidFill>
                <a:latin typeface="Canva Sans Italics"/>
                <a:ea typeface="Canva Sans Italics"/>
                <a:cs typeface="Canva Sans Italics"/>
                <a:sym typeface="Canva Sans Italics"/>
                <a:hlinkClick r:id="rId7" tooltip="https://www.businessofapps.com/data/duolingo-statistics/"/>
              </a:rPr>
              <a:t>https://www.businessofapps.com/data/duolingo-statistics/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endParaRPr lang="en-US" sz="2299" i="1" u="sng">
              <a:solidFill>
                <a:srgbClr val="0345E4"/>
              </a:solidFill>
              <a:latin typeface="Canva Sans Italics"/>
              <a:ea typeface="Canva Sans Italics"/>
              <a:cs typeface="Canva Sans Italics"/>
              <a:sym typeface="Canva Sans Italics"/>
              <a:hlinkClick r:id="rId7" tooltip="https://www.businessofapps.com/data/duolingo-statistics/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24739" y="539339"/>
            <a:ext cx="9153823" cy="9208323"/>
            <a:chOff x="0" y="0"/>
            <a:chExt cx="2410883" cy="24252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0883" cy="2425237"/>
            </a:xfrm>
            <a:custGeom>
              <a:avLst/>
              <a:gdLst/>
              <a:ahLst/>
              <a:cxnLst/>
              <a:rect l="l" t="t" r="r" b="b"/>
              <a:pathLst>
                <a:path w="2410883" h="2425237">
                  <a:moveTo>
                    <a:pt x="0" y="0"/>
                  </a:moveTo>
                  <a:lnTo>
                    <a:pt x="2410883" y="0"/>
                  </a:lnTo>
                  <a:lnTo>
                    <a:pt x="2410883" y="2425237"/>
                  </a:lnTo>
                  <a:lnTo>
                    <a:pt x="0" y="242523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410883" cy="2472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924526" y="8042121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0"/>
                </a:moveTo>
                <a:lnTo>
                  <a:pt x="5826379" y="0"/>
                </a:lnTo>
                <a:lnTo>
                  <a:pt x="5826379" y="3411081"/>
                </a:lnTo>
                <a:lnTo>
                  <a:pt x="0" y="34110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2461620" y="-790965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0"/>
                </a:moveTo>
                <a:lnTo>
                  <a:pt x="0" y="3411080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0108" y="145088"/>
            <a:ext cx="1837184" cy="1615555"/>
          </a:xfrm>
          <a:custGeom>
            <a:avLst/>
            <a:gdLst/>
            <a:ahLst/>
            <a:cxnLst/>
            <a:rect l="l" t="t" r="r" b="b"/>
            <a:pathLst>
              <a:path w="1837184" h="1615555">
                <a:moveTo>
                  <a:pt x="0" y="0"/>
                </a:moveTo>
                <a:lnTo>
                  <a:pt x="1837184" y="0"/>
                </a:lnTo>
                <a:lnTo>
                  <a:pt x="1837184" y="1615555"/>
                </a:lnTo>
                <a:lnTo>
                  <a:pt x="0" y="16155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3491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45987" y="3660852"/>
            <a:ext cx="3285353" cy="3578350"/>
          </a:xfrm>
          <a:custGeom>
            <a:avLst/>
            <a:gdLst/>
            <a:ahLst/>
            <a:cxnLst/>
            <a:rect l="l" t="t" r="r" b="b"/>
            <a:pathLst>
              <a:path w="3285353" h="3578350">
                <a:moveTo>
                  <a:pt x="0" y="0"/>
                </a:moveTo>
                <a:lnTo>
                  <a:pt x="3285353" y="0"/>
                </a:lnTo>
                <a:lnTo>
                  <a:pt x="3285353" y="3578350"/>
                </a:lnTo>
                <a:lnTo>
                  <a:pt x="0" y="3578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834" r="-4834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915780" y="2017839"/>
            <a:ext cx="13559263" cy="6864377"/>
          </a:xfrm>
          <a:custGeom>
            <a:avLst/>
            <a:gdLst/>
            <a:ahLst/>
            <a:cxnLst/>
            <a:rect l="l" t="t" r="r" b="b"/>
            <a:pathLst>
              <a:path w="13559263" h="6864377">
                <a:moveTo>
                  <a:pt x="0" y="0"/>
                </a:moveTo>
                <a:lnTo>
                  <a:pt x="13559263" y="0"/>
                </a:lnTo>
                <a:lnTo>
                  <a:pt x="13559263" y="6864377"/>
                </a:lnTo>
                <a:lnTo>
                  <a:pt x="0" y="68643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173978" y="330644"/>
            <a:ext cx="9288780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Target User (Khan Academy)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45987" y="9497694"/>
            <a:ext cx="18886379" cy="78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Source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 </a:t>
            </a:r>
            <a:r>
              <a:rPr lang="en-US" sz="2299" i="1" u="sng">
                <a:solidFill>
                  <a:srgbClr val="0345E4"/>
                </a:solidFill>
                <a:latin typeface="Canva Sans Italics"/>
                <a:ea typeface="Canva Sans Italics"/>
                <a:cs typeface="Canva Sans Italics"/>
                <a:sym typeface="Canva Sans Italics"/>
                <a:hlinkClick r:id="rId7" tooltip="https://annualreport.khanacademy.org"/>
              </a:rPr>
              <a:t>https://annualreport.khanacademy.org/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endParaRPr lang="en-US" sz="2299" i="1" u="sng">
              <a:solidFill>
                <a:srgbClr val="0345E4"/>
              </a:solidFill>
              <a:latin typeface="Canva Sans Italics"/>
              <a:ea typeface="Canva Sans Italics"/>
              <a:cs typeface="Canva Sans Italics"/>
              <a:sym typeface="Canva Sans Italics"/>
              <a:hlinkClick r:id="rId7" tooltip="https://annualreport.khanacademy.org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24739" y="539339"/>
            <a:ext cx="9153823" cy="9208323"/>
            <a:chOff x="0" y="0"/>
            <a:chExt cx="2410883" cy="24252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0883" cy="2425237"/>
            </a:xfrm>
            <a:custGeom>
              <a:avLst/>
              <a:gdLst/>
              <a:ahLst/>
              <a:cxnLst/>
              <a:rect l="l" t="t" r="r" b="b"/>
              <a:pathLst>
                <a:path w="2410883" h="2425237">
                  <a:moveTo>
                    <a:pt x="0" y="0"/>
                  </a:moveTo>
                  <a:lnTo>
                    <a:pt x="2410883" y="0"/>
                  </a:lnTo>
                  <a:lnTo>
                    <a:pt x="2410883" y="2425237"/>
                  </a:lnTo>
                  <a:lnTo>
                    <a:pt x="0" y="242523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410883" cy="2472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924526" y="8042121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0"/>
                </a:moveTo>
                <a:lnTo>
                  <a:pt x="5826379" y="0"/>
                </a:lnTo>
                <a:lnTo>
                  <a:pt x="5826379" y="3411081"/>
                </a:lnTo>
                <a:lnTo>
                  <a:pt x="0" y="34110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2461620" y="-790965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0"/>
                </a:moveTo>
                <a:lnTo>
                  <a:pt x="0" y="3411080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0108" y="145088"/>
            <a:ext cx="1837184" cy="1615555"/>
          </a:xfrm>
          <a:custGeom>
            <a:avLst/>
            <a:gdLst/>
            <a:ahLst/>
            <a:cxnLst/>
            <a:rect l="l" t="t" r="r" b="b"/>
            <a:pathLst>
              <a:path w="1837184" h="1615555">
                <a:moveTo>
                  <a:pt x="0" y="0"/>
                </a:moveTo>
                <a:lnTo>
                  <a:pt x="1837184" y="0"/>
                </a:lnTo>
                <a:lnTo>
                  <a:pt x="1837184" y="1615555"/>
                </a:lnTo>
                <a:lnTo>
                  <a:pt x="0" y="16155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3491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194202" y="1486271"/>
            <a:ext cx="7438686" cy="1316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02"/>
              </a:lnSpc>
            </a:pPr>
            <a:r>
              <a:rPr lang="en-US" sz="764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We Market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7150" y="3391311"/>
            <a:ext cx="18288000" cy="5704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4"/>
              </a:lnSpc>
            </a:pPr>
            <a:endParaRPr/>
          </a:p>
          <a:p>
            <a:pPr algn="ctr">
              <a:lnSpc>
                <a:spcPts val="4164"/>
              </a:lnSpc>
            </a:pPr>
            <a:r>
              <a:rPr lang="en-US" sz="297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Funnel 1: B2B Validation (The "Khan Academy" Model)</a:t>
            </a:r>
          </a:p>
          <a:p>
            <a:pPr algn="ctr">
              <a:lnSpc>
                <a:spcPts val="3744"/>
              </a:lnSpc>
              <a:spcBef>
                <a:spcPct val="0"/>
              </a:spcBef>
            </a:pPr>
            <a:endParaRPr lang="en-US" sz="2974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3744"/>
              </a:lnSpc>
              <a:spcBef>
                <a:spcPct val="0"/>
              </a:spcBef>
            </a:pPr>
            <a:r>
              <a:rPr lang="en-US" sz="267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We will replicate this by launching a free pilot program for secondary schools. We will provide a "Teacher Dashboard" to track student progress, turning educators into our advocates and gaining invaluable testimonials.</a:t>
            </a:r>
          </a:p>
          <a:p>
            <a:pPr algn="ctr">
              <a:lnSpc>
                <a:spcPts val="3744"/>
              </a:lnSpc>
              <a:spcBef>
                <a:spcPct val="0"/>
              </a:spcBef>
            </a:pPr>
            <a:endParaRPr lang="en-US" sz="2674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164"/>
              </a:lnSpc>
              <a:spcBef>
                <a:spcPct val="0"/>
              </a:spcBef>
            </a:pPr>
            <a:r>
              <a:rPr lang="en-US" sz="297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Funnel 2: B2C Acquisition (The "Duolingo" Model)</a:t>
            </a:r>
          </a:p>
          <a:p>
            <a:pPr algn="ctr">
              <a:lnSpc>
                <a:spcPts val="3744"/>
              </a:lnSpc>
              <a:spcBef>
                <a:spcPct val="0"/>
              </a:spcBef>
            </a:pPr>
            <a:endParaRPr lang="en-US" sz="2974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3744"/>
              </a:lnSpc>
              <a:spcBef>
                <a:spcPct val="0"/>
              </a:spcBef>
            </a:pPr>
            <a:r>
              <a:rPr lang="en-US" sz="267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 will leverage the B2B testimonials from Funnel 1 to launch a targeted social media campaign. Seeing that "Crow Education" is teacher-approved will build instant trust and drive student (B2C) downloads on Instagram.</a:t>
            </a:r>
          </a:p>
          <a:p>
            <a:pPr algn="ctr">
              <a:lnSpc>
                <a:spcPts val="3744"/>
              </a:lnSpc>
              <a:spcBef>
                <a:spcPct val="0"/>
              </a:spcBef>
            </a:pPr>
            <a:endParaRPr lang="en-US" sz="2674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24526" y="8042121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0"/>
                </a:moveTo>
                <a:lnTo>
                  <a:pt x="5826379" y="0"/>
                </a:lnTo>
                <a:lnTo>
                  <a:pt x="5826379" y="3411081"/>
                </a:lnTo>
                <a:lnTo>
                  <a:pt x="0" y="34110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461620" y="-790965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0"/>
                </a:moveTo>
                <a:lnTo>
                  <a:pt x="0" y="3411080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0108" y="145088"/>
            <a:ext cx="1837184" cy="1615555"/>
          </a:xfrm>
          <a:custGeom>
            <a:avLst/>
            <a:gdLst/>
            <a:ahLst/>
            <a:cxnLst/>
            <a:rect l="l" t="t" r="r" b="b"/>
            <a:pathLst>
              <a:path w="1837184" h="1615555">
                <a:moveTo>
                  <a:pt x="0" y="0"/>
                </a:moveTo>
                <a:lnTo>
                  <a:pt x="1837184" y="0"/>
                </a:lnTo>
                <a:lnTo>
                  <a:pt x="1837184" y="1615555"/>
                </a:lnTo>
                <a:lnTo>
                  <a:pt x="0" y="16155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3491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808491" y="1464241"/>
            <a:ext cx="11146175" cy="2356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88"/>
              </a:lnSpc>
            </a:pPr>
            <a:r>
              <a:rPr lang="en-US" sz="677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We Will Be </a:t>
            </a:r>
            <a:r>
              <a:rPr lang="en-US" sz="6777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Sucessful</a:t>
            </a:r>
            <a:r>
              <a:rPr lang="en-US" sz="677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Successful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214258" y="2620115"/>
            <a:ext cx="14334642" cy="6976226"/>
            <a:chOff x="0" y="0"/>
            <a:chExt cx="3775379" cy="18373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75379" cy="1837360"/>
            </a:xfrm>
            <a:custGeom>
              <a:avLst/>
              <a:gdLst/>
              <a:ahLst/>
              <a:cxnLst/>
              <a:rect l="l" t="t" r="r" b="b"/>
              <a:pathLst>
                <a:path w="3775379" h="1837360">
                  <a:moveTo>
                    <a:pt x="27544" y="0"/>
                  </a:moveTo>
                  <a:lnTo>
                    <a:pt x="3747834" y="0"/>
                  </a:lnTo>
                  <a:cubicBezTo>
                    <a:pt x="3763047" y="0"/>
                    <a:pt x="3775379" y="12332"/>
                    <a:pt x="3775379" y="27544"/>
                  </a:cubicBezTo>
                  <a:lnTo>
                    <a:pt x="3775379" y="1809816"/>
                  </a:lnTo>
                  <a:cubicBezTo>
                    <a:pt x="3775379" y="1825028"/>
                    <a:pt x="3763047" y="1837360"/>
                    <a:pt x="3747834" y="1837360"/>
                  </a:cubicBezTo>
                  <a:lnTo>
                    <a:pt x="27544" y="1837360"/>
                  </a:lnTo>
                  <a:cubicBezTo>
                    <a:pt x="12332" y="1837360"/>
                    <a:pt x="0" y="1825028"/>
                    <a:pt x="0" y="1809816"/>
                  </a:cubicBezTo>
                  <a:lnTo>
                    <a:pt x="0" y="27544"/>
                  </a:lnTo>
                  <a:cubicBezTo>
                    <a:pt x="0" y="12332"/>
                    <a:pt x="12332" y="0"/>
                    <a:pt x="27544" y="0"/>
                  </a:cubicBezTo>
                  <a:close/>
                </a:path>
              </a:pathLst>
            </a:custGeom>
            <a:solidFill>
              <a:srgbClr val="E9F4F3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3775379" cy="18849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Our competitors are global generalists. We are local specialists.</a:t>
              </a:r>
            </a:p>
            <a:p>
              <a:pPr algn="ctr">
                <a:lnSpc>
                  <a:spcPts val="3779"/>
                </a:lnSpc>
              </a:pPr>
              <a:endParaRPr lang="en-US" sz="26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marL="561328" lvl="1" indent="-280664" algn="l">
                <a:lnSpc>
                  <a:spcPts val="3639"/>
                </a:lnSpc>
                <a:buAutoNum type="arabicPeriod"/>
              </a:pPr>
              <a:r>
                <a:rPr lang="en-US" sz="2599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Curriculum Alignment:</a:t>
              </a:r>
              <a:r>
                <a:rPr lang="en-US" sz="25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We are 100% aligned with the Malaysian National Curriculum. This positions us as an essential academic tool, not a supplemental app.</a:t>
              </a:r>
            </a:p>
            <a:p>
              <a:pPr marL="561328" lvl="1" indent="-280664" algn="l">
                <a:lnSpc>
                  <a:spcPts val="3639"/>
                </a:lnSpc>
                <a:buAutoNum type="arabicPeriod"/>
              </a:pPr>
              <a:r>
                <a:rPr lang="en-US" sz="2599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Strategic Trust:</a:t>
              </a:r>
              <a:r>
                <a:rPr lang="en-US" sz="25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Our B2B (school-first) model validates our product and builds trust with educators. This "teacher approval" is our most powerful marketing asset for B2C adoption and creates a competitive barrier.</a:t>
              </a:r>
            </a:p>
            <a:p>
              <a:pPr marL="561328" lvl="1" indent="-280664" algn="l">
                <a:lnSpc>
                  <a:spcPts val="3639"/>
                </a:lnSpc>
                <a:buAutoNum type="arabicPeriod"/>
              </a:pPr>
              <a:r>
                <a:rPr lang="en-US" sz="2599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Hyper-Focused Solution:</a:t>
              </a:r>
              <a:r>
                <a:rPr lang="en-US" sz="25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Unlike competitors with broad targets, we are 100% focused on a single market: the Malaysian secondary student. Our entire product is precision-engineered for them.</a:t>
              </a:r>
            </a:p>
            <a:p>
              <a:pPr algn="l">
                <a:lnSpc>
                  <a:spcPts val="3079"/>
                </a:lnSpc>
              </a:pPr>
              <a:endPara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24526" y="8042121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0"/>
                </a:moveTo>
                <a:lnTo>
                  <a:pt x="5826379" y="0"/>
                </a:lnTo>
                <a:lnTo>
                  <a:pt x="5826379" y="3411081"/>
                </a:lnTo>
                <a:lnTo>
                  <a:pt x="0" y="34110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461620" y="-676840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0"/>
                </a:moveTo>
                <a:lnTo>
                  <a:pt x="0" y="3411080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0108" y="145088"/>
            <a:ext cx="1837184" cy="1615555"/>
          </a:xfrm>
          <a:custGeom>
            <a:avLst/>
            <a:gdLst/>
            <a:ahLst/>
            <a:cxnLst/>
            <a:rect l="l" t="t" r="r" b="b"/>
            <a:pathLst>
              <a:path w="1837184" h="1615555">
                <a:moveTo>
                  <a:pt x="0" y="0"/>
                </a:moveTo>
                <a:lnTo>
                  <a:pt x="1837184" y="0"/>
                </a:lnTo>
                <a:lnTo>
                  <a:pt x="1837184" y="1615555"/>
                </a:lnTo>
                <a:lnTo>
                  <a:pt x="0" y="16155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3491"/>
            </a:stretch>
          </a:blipFill>
        </p:spPr>
      </p:sp>
      <p:graphicFrame>
        <p:nvGraphicFramePr>
          <p:cNvPr id="5" name="Object 5"/>
          <p:cNvGraphicFramePr/>
          <p:nvPr>
            <p:extLst>
              <p:ext uri="{D42A27DB-BD31-4B8C-83A1-F6EECF244321}">
                <p14:modId xmlns:p14="http://schemas.microsoft.com/office/powerpoint/2010/main" val="3701296778"/>
              </p:ext>
            </p:extLst>
          </p:nvPr>
        </p:nvGraphicFramePr>
        <p:xfrm>
          <a:off x="1143000" y="1276576"/>
          <a:ext cx="17297400" cy="859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18859500" imgH="9893300" progId="Excel.Sheet.12">
                  <p:embed/>
                </p:oleObj>
              </mc:Choice>
              <mc:Fallback>
                <p:oleObj name="Worksheet" r:id="rId5" imgW="18859500" imgH="98933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43000" y="1276576"/>
                        <a:ext cx="17297400" cy="859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3121964" y="149165"/>
            <a:ext cx="12252846" cy="2254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88"/>
              </a:lnSpc>
            </a:pPr>
            <a:r>
              <a:rPr lang="en-US" sz="677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Cost in Real-life </a:t>
            </a:r>
          </a:p>
          <a:p>
            <a:pPr algn="ctr">
              <a:lnSpc>
                <a:spcPts val="8648"/>
              </a:lnSpc>
            </a:pPr>
            <a:r>
              <a:rPr lang="en-US" sz="617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(Web category)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24526" y="8042121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0"/>
                </a:moveTo>
                <a:lnTo>
                  <a:pt x="5826379" y="0"/>
                </a:lnTo>
                <a:lnTo>
                  <a:pt x="5826379" y="3411081"/>
                </a:lnTo>
                <a:lnTo>
                  <a:pt x="0" y="34110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461620" y="-676840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0"/>
                </a:moveTo>
                <a:lnTo>
                  <a:pt x="0" y="3411080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0108" y="145088"/>
            <a:ext cx="1837184" cy="1615555"/>
          </a:xfrm>
          <a:custGeom>
            <a:avLst/>
            <a:gdLst/>
            <a:ahLst/>
            <a:cxnLst/>
            <a:rect l="l" t="t" r="r" b="b"/>
            <a:pathLst>
              <a:path w="1837184" h="1615555">
                <a:moveTo>
                  <a:pt x="0" y="0"/>
                </a:moveTo>
                <a:lnTo>
                  <a:pt x="1837184" y="0"/>
                </a:lnTo>
                <a:lnTo>
                  <a:pt x="1837184" y="1615555"/>
                </a:lnTo>
                <a:lnTo>
                  <a:pt x="0" y="16155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3491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003704" y="0"/>
            <a:ext cx="4636053" cy="9916691"/>
          </a:xfrm>
          <a:custGeom>
            <a:avLst/>
            <a:gdLst/>
            <a:ahLst/>
            <a:cxnLst/>
            <a:rect l="l" t="t" r="r" b="b"/>
            <a:pathLst>
              <a:path w="4636053" h="9916691">
                <a:moveTo>
                  <a:pt x="0" y="0"/>
                </a:moveTo>
                <a:lnTo>
                  <a:pt x="4636053" y="0"/>
                </a:lnTo>
                <a:lnTo>
                  <a:pt x="4636053" y="9916691"/>
                </a:lnTo>
                <a:lnTo>
                  <a:pt x="0" y="99166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315813" y="244063"/>
            <a:ext cx="4691211" cy="9798874"/>
          </a:xfrm>
          <a:custGeom>
            <a:avLst/>
            <a:gdLst/>
            <a:ahLst/>
            <a:cxnLst/>
            <a:rect l="l" t="t" r="r" b="b"/>
            <a:pathLst>
              <a:path w="4691211" h="9798874">
                <a:moveTo>
                  <a:pt x="0" y="0"/>
                </a:moveTo>
                <a:lnTo>
                  <a:pt x="4691211" y="0"/>
                </a:lnTo>
                <a:lnTo>
                  <a:pt x="4691211" y="9798874"/>
                </a:lnTo>
                <a:lnTo>
                  <a:pt x="0" y="97988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03553" y="4685404"/>
            <a:ext cx="3570221" cy="555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69"/>
              </a:lnSpc>
              <a:spcBef>
                <a:spcPct val="0"/>
              </a:spcBef>
            </a:pPr>
            <a:r>
              <a:rPr lang="en-US" sz="3724" b="1" spc="13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Google Drive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461620" y="4685404"/>
            <a:ext cx="5393668" cy="545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4"/>
              </a:lnSpc>
              <a:spcBef>
                <a:spcPct val="0"/>
              </a:spcBef>
            </a:pPr>
            <a:r>
              <a:rPr lang="en-US" sz="3661" b="1" spc="13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Wix Studio (Domain)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335180" y="8308226"/>
            <a:ext cx="982771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-508428" y="7107893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0"/>
                </a:moveTo>
                <a:lnTo>
                  <a:pt x="5826380" y="0"/>
                </a:lnTo>
                <a:lnTo>
                  <a:pt x="5826380" y="3411080"/>
                </a:lnTo>
                <a:lnTo>
                  <a:pt x="0" y="3411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2836660" y="0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0108" y="220923"/>
            <a:ext cx="1837184" cy="1615555"/>
          </a:xfrm>
          <a:custGeom>
            <a:avLst/>
            <a:gdLst/>
            <a:ahLst/>
            <a:cxnLst/>
            <a:rect l="l" t="t" r="r" b="b"/>
            <a:pathLst>
              <a:path w="1837184" h="1615555">
                <a:moveTo>
                  <a:pt x="0" y="0"/>
                </a:moveTo>
                <a:lnTo>
                  <a:pt x="1837184" y="0"/>
                </a:lnTo>
                <a:lnTo>
                  <a:pt x="1837184" y="1615554"/>
                </a:lnTo>
                <a:lnTo>
                  <a:pt x="0" y="16155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3491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774224" y="3607601"/>
            <a:ext cx="9388375" cy="6290211"/>
          </a:xfrm>
          <a:custGeom>
            <a:avLst/>
            <a:gdLst/>
            <a:ahLst/>
            <a:cxnLst/>
            <a:rect l="l" t="t" r="r" b="b"/>
            <a:pathLst>
              <a:path w="9388375" h="6290211">
                <a:moveTo>
                  <a:pt x="0" y="0"/>
                </a:moveTo>
                <a:lnTo>
                  <a:pt x="9388376" y="0"/>
                </a:lnTo>
                <a:lnTo>
                  <a:pt x="9388376" y="6290211"/>
                </a:lnTo>
                <a:lnTo>
                  <a:pt x="0" y="62902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0108" y="1947799"/>
            <a:ext cx="9033892" cy="5725229"/>
          </a:xfrm>
          <a:custGeom>
            <a:avLst/>
            <a:gdLst/>
            <a:ahLst/>
            <a:cxnLst/>
            <a:rect l="l" t="t" r="r" b="b"/>
            <a:pathLst>
              <a:path w="9033892" h="5725229">
                <a:moveTo>
                  <a:pt x="0" y="0"/>
                </a:moveTo>
                <a:lnTo>
                  <a:pt x="9033892" y="0"/>
                </a:lnTo>
                <a:lnTo>
                  <a:pt x="9033892" y="5725230"/>
                </a:lnTo>
                <a:lnTo>
                  <a:pt x="0" y="57252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798" r="-1798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404762" y="536315"/>
            <a:ext cx="8936316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254"/>
              </a:lnSpc>
              <a:spcBef>
                <a:spcPct val="0"/>
              </a:spcBef>
            </a:pPr>
            <a:r>
              <a:rPr lang="en-US" sz="5211" b="1" spc="187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Prototype (User)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335180" y="8308226"/>
            <a:ext cx="982771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-508428" y="7107893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0"/>
                </a:moveTo>
                <a:lnTo>
                  <a:pt x="5826380" y="0"/>
                </a:lnTo>
                <a:lnTo>
                  <a:pt x="5826380" y="3411080"/>
                </a:lnTo>
                <a:lnTo>
                  <a:pt x="0" y="3411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2836660" y="0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0108" y="220923"/>
            <a:ext cx="1837184" cy="1615555"/>
          </a:xfrm>
          <a:custGeom>
            <a:avLst/>
            <a:gdLst/>
            <a:ahLst/>
            <a:cxnLst/>
            <a:rect l="l" t="t" r="r" b="b"/>
            <a:pathLst>
              <a:path w="1837184" h="1615555">
                <a:moveTo>
                  <a:pt x="0" y="0"/>
                </a:moveTo>
                <a:lnTo>
                  <a:pt x="1837184" y="0"/>
                </a:lnTo>
                <a:lnTo>
                  <a:pt x="1837184" y="1615554"/>
                </a:lnTo>
                <a:lnTo>
                  <a:pt x="0" y="16155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3491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0108" y="1705540"/>
            <a:ext cx="9253154" cy="6692041"/>
          </a:xfrm>
          <a:custGeom>
            <a:avLst/>
            <a:gdLst/>
            <a:ahLst/>
            <a:cxnLst/>
            <a:rect l="l" t="t" r="r" b="b"/>
            <a:pathLst>
              <a:path w="9253154" h="6692041">
                <a:moveTo>
                  <a:pt x="0" y="0"/>
                </a:moveTo>
                <a:lnTo>
                  <a:pt x="9253153" y="0"/>
                </a:lnTo>
                <a:lnTo>
                  <a:pt x="9253153" y="6692041"/>
                </a:lnTo>
                <a:lnTo>
                  <a:pt x="0" y="66920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851" b="-1851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363261" y="3411081"/>
            <a:ext cx="8747997" cy="6571933"/>
          </a:xfrm>
          <a:custGeom>
            <a:avLst/>
            <a:gdLst/>
            <a:ahLst/>
            <a:cxnLst/>
            <a:rect l="l" t="t" r="r" b="b"/>
            <a:pathLst>
              <a:path w="8747997" h="6571933">
                <a:moveTo>
                  <a:pt x="0" y="0"/>
                </a:moveTo>
                <a:lnTo>
                  <a:pt x="8747997" y="0"/>
                </a:lnTo>
                <a:lnTo>
                  <a:pt x="8747997" y="6571932"/>
                </a:lnTo>
                <a:lnTo>
                  <a:pt x="0" y="65719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404762" y="536315"/>
            <a:ext cx="8936316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254"/>
              </a:lnSpc>
              <a:spcBef>
                <a:spcPct val="0"/>
              </a:spcBef>
            </a:pPr>
            <a:r>
              <a:rPr lang="en-US" sz="5211" b="1" spc="187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Prototype (User)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335180" y="8308226"/>
            <a:ext cx="982771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-508428" y="7107893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0"/>
                </a:moveTo>
                <a:lnTo>
                  <a:pt x="5826380" y="0"/>
                </a:lnTo>
                <a:lnTo>
                  <a:pt x="5826380" y="3411080"/>
                </a:lnTo>
                <a:lnTo>
                  <a:pt x="0" y="3411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2836660" y="0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0108" y="220923"/>
            <a:ext cx="1837184" cy="1615555"/>
          </a:xfrm>
          <a:custGeom>
            <a:avLst/>
            <a:gdLst/>
            <a:ahLst/>
            <a:cxnLst/>
            <a:rect l="l" t="t" r="r" b="b"/>
            <a:pathLst>
              <a:path w="1837184" h="1615555">
                <a:moveTo>
                  <a:pt x="0" y="0"/>
                </a:moveTo>
                <a:lnTo>
                  <a:pt x="1837184" y="0"/>
                </a:lnTo>
                <a:lnTo>
                  <a:pt x="1837184" y="1615554"/>
                </a:lnTo>
                <a:lnTo>
                  <a:pt x="0" y="16155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3491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0108" y="1705540"/>
            <a:ext cx="9432408" cy="6602685"/>
          </a:xfrm>
          <a:custGeom>
            <a:avLst/>
            <a:gdLst/>
            <a:ahLst/>
            <a:cxnLst/>
            <a:rect l="l" t="t" r="r" b="b"/>
            <a:pathLst>
              <a:path w="9432408" h="6602685">
                <a:moveTo>
                  <a:pt x="0" y="0"/>
                </a:moveTo>
                <a:lnTo>
                  <a:pt x="9432408" y="0"/>
                </a:lnTo>
                <a:lnTo>
                  <a:pt x="9432408" y="6602686"/>
                </a:lnTo>
                <a:lnTo>
                  <a:pt x="0" y="66026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542516" y="4058393"/>
            <a:ext cx="8635752" cy="6099000"/>
          </a:xfrm>
          <a:custGeom>
            <a:avLst/>
            <a:gdLst/>
            <a:ahLst/>
            <a:cxnLst/>
            <a:rect l="l" t="t" r="r" b="b"/>
            <a:pathLst>
              <a:path w="8635752" h="6099000">
                <a:moveTo>
                  <a:pt x="0" y="0"/>
                </a:moveTo>
                <a:lnTo>
                  <a:pt x="8635751" y="0"/>
                </a:lnTo>
                <a:lnTo>
                  <a:pt x="8635751" y="6099000"/>
                </a:lnTo>
                <a:lnTo>
                  <a:pt x="0" y="6099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404762" y="536315"/>
            <a:ext cx="8936316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254"/>
              </a:lnSpc>
              <a:spcBef>
                <a:spcPct val="0"/>
              </a:spcBef>
            </a:pPr>
            <a:r>
              <a:rPr lang="en-US" sz="5211" b="1" spc="187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Prototype (Admin)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335180" y="8308226"/>
            <a:ext cx="982771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-508428" y="7107893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0" y="0"/>
                </a:moveTo>
                <a:lnTo>
                  <a:pt x="5826380" y="0"/>
                </a:lnTo>
                <a:lnTo>
                  <a:pt x="5826380" y="3411080"/>
                </a:lnTo>
                <a:lnTo>
                  <a:pt x="0" y="3411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2836660" y="0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0108" y="220923"/>
            <a:ext cx="1837184" cy="1615555"/>
          </a:xfrm>
          <a:custGeom>
            <a:avLst/>
            <a:gdLst/>
            <a:ahLst/>
            <a:cxnLst/>
            <a:rect l="l" t="t" r="r" b="b"/>
            <a:pathLst>
              <a:path w="1837184" h="1615555">
                <a:moveTo>
                  <a:pt x="0" y="0"/>
                </a:moveTo>
                <a:lnTo>
                  <a:pt x="1837184" y="0"/>
                </a:lnTo>
                <a:lnTo>
                  <a:pt x="1837184" y="1615554"/>
                </a:lnTo>
                <a:lnTo>
                  <a:pt x="0" y="16155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3491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4575" y="1537236"/>
            <a:ext cx="10414941" cy="7017066"/>
          </a:xfrm>
          <a:custGeom>
            <a:avLst/>
            <a:gdLst/>
            <a:ahLst/>
            <a:cxnLst/>
            <a:rect l="l" t="t" r="r" b="b"/>
            <a:pathLst>
              <a:path w="10414941" h="7017066">
                <a:moveTo>
                  <a:pt x="0" y="0"/>
                </a:moveTo>
                <a:lnTo>
                  <a:pt x="10414941" y="0"/>
                </a:lnTo>
                <a:lnTo>
                  <a:pt x="10414941" y="7017066"/>
                </a:lnTo>
                <a:lnTo>
                  <a:pt x="0" y="70170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465302" y="4664472"/>
            <a:ext cx="8960205" cy="5622528"/>
          </a:xfrm>
          <a:custGeom>
            <a:avLst/>
            <a:gdLst/>
            <a:ahLst/>
            <a:cxnLst/>
            <a:rect l="l" t="t" r="r" b="b"/>
            <a:pathLst>
              <a:path w="8960205" h="5622528">
                <a:moveTo>
                  <a:pt x="0" y="0"/>
                </a:moveTo>
                <a:lnTo>
                  <a:pt x="8960205" y="0"/>
                </a:lnTo>
                <a:lnTo>
                  <a:pt x="8960205" y="5622528"/>
                </a:lnTo>
                <a:lnTo>
                  <a:pt x="0" y="56225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404762" y="536315"/>
            <a:ext cx="8936316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254"/>
              </a:lnSpc>
              <a:spcBef>
                <a:spcPct val="0"/>
              </a:spcBef>
            </a:pPr>
            <a:r>
              <a:rPr lang="en-US" sz="5211" b="1" spc="187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Prototype (Admin)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86023" y="6580376"/>
            <a:ext cx="6331190" cy="3706624"/>
          </a:xfrm>
          <a:custGeom>
            <a:avLst/>
            <a:gdLst/>
            <a:ahLst/>
            <a:cxnLst/>
            <a:rect l="l" t="t" r="r" b="b"/>
            <a:pathLst>
              <a:path w="6331190" h="3706624">
                <a:moveTo>
                  <a:pt x="0" y="0"/>
                </a:moveTo>
                <a:lnTo>
                  <a:pt x="6331190" y="0"/>
                </a:lnTo>
                <a:lnTo>
                  <a:pt x="6331190" y="3706624"/>
                </a:lnTo>
                <a:lnTo>
                  <a:pt x="0" y="3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461620" y="0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82564" y="295924"/>
            <a:ext cx="1370856" cy="1368114"/>
          </a:xfrm>
          <a:custGeom>
            <a:avLst/>
            <a:gdLst/>
            <a:ahLst/>
            <a:cxnLst/>
            <a:rect l="l" t="t" r="r" b="b"/>
            <a:pathLst>
              <a:path w="1370856" h="1368114">
                <a:moveTo>
                  <a:pt x="0" y="0"/>
                </a:moveTo>
                <a:lnTo>
                  <a:pt x="1370856" y="0"/>
                </a:lnTo>
                <a:lnTo>
                  <a:pt x="1370856" y="1368114"/>
                </a:lnTo>
                <a:lnTo>
                  <a:pt x="0" y="13681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91282" y="2602045"/>
            <a:ext cx="17505436" cy="5557976"/>
          </a:xfrm>
          <a:custGeom>
            <a:avLst/>
            <a:gdLst/>
            <a:ahLst/>
            <a:cxnLst/>
            <a:rect l="l" t="t" r="r" b="b"/>
            <a:pathLst>
              <a:path w="17505436" h="5557976">
                <a:moveTo>
                  <a:pt x="0" y="0"/>
                </a:moveTo>
                <a:lnTo>
                  <a:pt x="17505436" y="0"/>
                </a:lnTo>
                <a:lnTo>
                  <a:pt x="17505436" y="5557976"/>
                </a:lnTo>
                <a:lnTo>
                  <a:pt x="0" y="55579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379572" y="752533"/>
            <a:ext cx="7441238" cy="635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11"/>
              </a:lnSpc>
              <a:spcBef>
                <a:spcPct val="0"/>
              </a:spcBef>
            </a:pPr>
            <a:r>
              <a:rPr lang="en-US" sz="4176" b="1" spc="150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 Roadmap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86023" y="6580376"/>
            <a:ext cx="6331190" cy="3706624"/>
          </a:xfrm>
          <a:custGeom>
            <a:avLst/>
            <a:gdLst/>
            <a:ahLst/>
            <a:cxnLst/>
            <a:rect l="l" t="t" r="r" b="b"/>
            <a:pathLst>
              <a:path w="6331190" h="3706624">
                <a:moveTo>
                  <a:pt x="0" y="0"/>
                </a:moveTo>
                <a:lnTo>
                  <a:pt x="6331190" y="0"/>
                </a:lnTo>
                <a:lnTo>
                  <a:pt x="6331190" y="3706624"/>
                </a:lnTo>
                <a:lnTo>
                  <a:pt x="0" y="3706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461620" y="0"/>
            <a:ext cx="5826380" cy="3411081"/>
          </a:xfrm>
          <a:custGeom>
            <a:avLst/>
            <a:gdLst/>
            <a:ahLst/>
            <a:cxnLst/>
            <a:rect l="l" t="t" r="r" b="b"/>
            <a:pathLst>
              <a:path w="5826380" h="3411081">
                <a:moveTo>
                  <a:pt x="5826380" y="3411081"/>
                </a:moveTo>
                <a:lnTo>
                  <a:pt x="0" y="3411081"/>
                </a:lnTo>
                <a:lnTo>
                  <a:pt x="0" y="0"/>
                </a:lnTo>
                <a:lnTo>
                  <a:pt x="5826380" y="0"/>
                </a:lnTo>
                <a:lnTo>
                  <a:pt x="5826380" y="34110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318895" y="3393070"/>
            <a:ext cx="15650210" cy="6374612"/>
            <a:chOff x="0" y="0"/>
            <a:chExt cx="4121866" cy="167891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121866" cy="1678910"/>
            </a:xfrm>
            <a:custGeom>
              <a:avLst/>
              <a:gdLst/>
              <a:ahLst/>
              <a:cxnLst/>
              <a:rect l="l" t="t" r="r" b="b"/>
              <a:pathLst>
                <a:path w="4121866" h="1678910">
                  <a:moveTo>
                    <a:pt x="25229" y="0"/>
                  </a:moveTo>
                  <a:lnTo>
                    <a:pt x="4096637" y="0"/>
                  </a:lnTo>
                  <a:cubicBezTo>
                    <a:pt x="4110571" y="0"/>
                    <a:pt x="4121866" y="11295"/>
                    <a:pt x="4121866" y="25229"/>
                  </a:cubicBezTo>
                  <a:lnTo>
                    <a:pt x="4121866" y="1653681"/>
                  </a:lnTo>
                  <a:cubicBezTo>
                    <a:pt x="4121866" y="1667615"/>
                    <a:pt x="4110571" y="1678910"/>
                    <a:pt x="4096637" y="1678910"/>
                  </a:cubicBezTo>
                  <a:lnTo>
                    <a:pt x="25229" y="1678910"/>
                  </a:lnTo>
                  <a:cubicBezTo>
                    <a:pt x="11295" y="1678910"/>
                    <a:pt x="0" y="1667615"/>
                    <a:pt x="0" y="1653681"/>
                  </a:cubicBezTo>
                  <a:lnTo>
                    <a:pt x="0" y="25229"/>
                  </a:lnTo>
                  <a:cubicBezTo>
                    <a:pt x="0" y="11295"/>
                    <a:pt x="11295" y="0"/>
                    <a:pt x="25229" y="0"/>
                  </a:cubicBezTo>
                  <a:close/>
                </a:path>
              </a:pathLst>
            </a:custGeom>
            <a:solidFill>
              <a:srgbClr val="E9F4F3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121866" cy="17170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 are</a:t>
              </a:r>
              <a:r>
                <a:rPr lang="en-US" sz="2199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Bird2 Group</a:t>
              </a:r>
              <a:r>
                <a:rPr lang="en-US" sz="21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, a complete team from TARUMT  with all the skills needed to execute this project.</a:t>
              </a:r>
            </a:p>
            <a:p>
              <a:pPr algn="ctr">
                <a:lnSpc>
                  <a:spcPts val="3079"/>
                </a:lnSpc>
              </a:pPr>
              <a:endPara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algn="ctr">
                <a:lnSpc>
                  <a:spcPts val="3079"/>
                </a:lnSpc>
              </a:pPr>
              <a:endPara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algn="ctr">
                <a:lnSpc>
                  <a:spcPts val="3079"/>
                </a:lnSpc>
              </a:pPr>
              <a:endPara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algn="ctr">
                <a:lnSpc>
                  <a:spcPts val="3079"/>
                </a:lnSpc>
              </a:pPr>
              <a:endPara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algn="ctr">
                <a:lnSpc>
                  <a:spcPts val="3079"/>
                </a:lnSpc>
              </a:pPr>
              <a:endPara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algn="ctr">
                <a:lnSpc>
                  <a:spcPts val="3079"/>
                </a:lnSpc>
              </a:pPr>
              <a:endPara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algn="ctr">
                <a:lnSpc>
                  <a:spcPts val="3079"/>
                </a:lnSpc>
              </a:pPr>
              <a:endPara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algn="ctr">
                <a:lnSpc>
                  <a:spcPts val="3079"/>
                </a:lnSpc>
              </a:pPr>
              <a:endPara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algn="ctr">
                <a:lnSpc>
                  <a:spcPts val="3079"/>
                </a:lnSpc>
              </a:pPr>
              <a:r>
                <a:rPr lang="en-US" sz="2199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Why We Will Succeed: </a:t>
              </a:r>
              <a:r>
                <a:rPr lang="en-US" sz="21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Technical Skills: We have a balanced team covering leadership, database, back-end, and front-end development .  Proven Teamwork: Through "countless discussions and brainstorming sessions," we have developed a "special sense of understanding and teamwork".</a:t>
              </a:r>
            </a:p>
            <a:p>
              <a:pPr algn="ctr">
                <a:lnSpc>
                  <a:spcPts val="3079"/>
                </a:lnSpc>
              </a:pPr>
              <a:endPara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algn="ctr">
                <a:lnSpc>
                  <a:spcPts val="3079"/>
                </a:lnSpc>
              </a:pPr>
              <a:r>
                <a:rPr lang="en-US" sz="2199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Local Insight:</a:t>
              </a:r>
              <a:r>
                <a:rPr lang="en-US" sz="21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As students, we are part of our own target market. We understand the problem deeply and are passionate about building the solution.</a:t>
              </a:r>
            </a:p>
            <a:p>
              <a:pPr algn="ctr">
                <a:lnSpc>
                  <a:spcPts val="3079"/>
                </a:lnSpc>
              </a:pPr>
              <a:endParaRPr lang="en-US" sz="2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768319" y="2161950"/>
            <a:ext cx="3086100" cy="1249131"/>
            <a:chOff x="0" y="0"/>
            <a:chExt cx="812800" cy="3289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328989"/>
            </a:xfrm>
            <a:custGeom>
              <a:avLst/>
              <a:gdLst/>
              <a:ahLst/>
              <a:cxnLst/>
              <a:rect l="l" t="t" r="r" b="b"/>
              <a:pathLst>
                <a:path w="812800" h="328989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01048"/>
                  </a:lnTo>
                  <a:cubicBezTo>
                    <a:pt x="812800" y="234980"/>
                    <a:pt x="799321" y="267523"/>
                    <a:pt x="775327" y="291516"/>
                  </a:cubicBezTo>
                  <a:cubicBezTo>
                    <a:pt x="751333" y="315510"/>
                    <a:pt x="718791" y="328989"/>
                    <a:pt x="684859" y="328989"/>
                  </a:cubicBezTo>
                  <a:lnTo>
                    <a:pt x="127941" y="328989"/>
                  </a:lnTo>
                  <a:cubicBezTo>
                    <a:pt x="94009" y="328989"/>
                    <a:pt x="61467" y="315510"/>
                    <a:pt x="37473" y="291516"/>
                  </a:cubicBezTo>
                  <a:cubicBezTo>
                    <a:pt x="13479" y="267523"/>
                    <a:pt x="0" y="234980"/>
                    <a:pt x="0" y="20104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4987E6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367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b="1">
                  <a:solidFill>
                    <a:srgbClr val="FFFFFF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Trust the Team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782564" y="295924"/>
            <a:ext cx="1370856" cy="1368114"/>
          </a:xfrm>
          <a:custGeom>
            <a:avLst/>
            <a:gdLst/>
            <a:ahLst/>
            <a:cxnLst/>
            <a:rect l="l" t="t" r="r" b="b"/>
            <a:pathLst>
              <a:path w="1370856" h="1368114">
                <a:moveTo>
                  <a:pt x="0" y="0"/>
                </a:moveTo>
                <a:lnTo>
                  <a:pt x="1370856" y="0"/>
                </a:lnTo>
                <a:lnTo>
                  <a:pt x="1370856" y="1368114"/>
                </a:lnTo>
                <a:lnTo>
                  <a:pt x="0" y="13681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379572" y="752533"/>
            <a:ext cx="7441238" cy="635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11"/>
              </a:lnSpc>
              <a:spcBef>
                <a:spcPct val="0"/>
              </a:spcBef>
            </a:pPr>
            <a:r>
              <a:rPr lang="en-US" sz="4176" b="1" spc="150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Trust the team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53100" y="4255005"/>
            <a:ext cx="7269480" cy="2325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2A2E3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Lim Shang Wen : Leader / Database Developer 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2A2E3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Loh Kien Ee         : Co-Leader / Back-end developer 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2A2E3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Teoh Jia Xin         : Back-end developer 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2A2E3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Yew Jason            :Front-end developer 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2A2E3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Ng Ying Zhe         :Front-end developer 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 b="1">
              <a:solidFill>
                <a:srgbClr val="2A2E3A"/>
              </a:solidFill>
              <a:latin typeface="Montserrat Semi-Bold"/>
              <a:ea typeface="Montserrat Semi-Bold"/>
              <a:cs typeface="Montserrat Semi-Bold"/>
              <a:sym typeface="Montserrat Semi-Bol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841091" y="4085260"/>
            <a:ext cx="10271046" cy="1704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56"/>
              </a:lnSpc>
            </a:pPr>
            <a:r>
              <a:rPr lang="en-US" sz="11130" b="1" spc="77">
                <a:solidFill>
                  <a:srgbClr val="08377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You!!</a:t>
            </a:r>
          </a:p>
        </p:txBody>
      </p:sp>
      <p:sp>
        <p:nvSpPr>
          <p:cNvPr id="3" name="Freeform 3"/>
          <p:cNvSpPr/>
          <p:nvPr/>
        </p:nvSpPr>
        <p:spPr>
          <a:xfrm rot="7960823">
            <a:off x="8779284" y="3803448"/>
            <a:ext cx="14626818" cy="8111235"/>
          </a:xfrm>
          <a:custGeom>
            <a:avLst/>
            <a:gdLst/>
            <a:ahLst/>
            <a:cxnLst/>
            <a:rect l="l" t="t" r="r" b="b"/>
            <a:pathLst>
              <a:path w="14626818" h="8111235">
                <a:moveTo>
                  <a:pt x="0" y="0"/>
                </a:moveTo>
                <a:lnTo>
                  <a:pt x="14626818" y="0"/>
                </a:lnTo>
                <a:lnTo>
                  <a:pt x="14626818" y="8111236"/>
                </a:lnTo>
                <a:lnTo>
                  <a:pt x="0" y="81112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609629" y="3185924"/>
            <a:ext cx="3453052" cy="3513173"/>
          </a:xfrm>
          <a:custGeom>
            <a:avLst/>
            <a:gdLst/>
            <a:ahLst/>
            <a:cxnLst/>
            <a:rect l="l" t="t" r="r" b="b"/>
            <a:pathLst>
              <a:path w="3453052" h="3513173">
                <a:moveTo>
                  <a:pt x="0" y="0"/>
                </a:moveTo>
                <a:lnTo>
                  <a:pt x="3453052" y="0"/>
                </a:lnTo>
                <a:lnTo>
                  <a:pt x="3453052" y="3513173"/>
                </a:lnTo>
                <a:lnTo>
                  <a:pt x="0" y="35131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830" t="-7569" r="-4830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060504" y="5790235"/>
            <a:ext cx="10906879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11"/>
              </a:lnSpc>
              <a:spcBef>
                <a:spcPct val="0"/>
              </a:spcBef>
            </a:pPr>
            <a:r>
              <a:rPr lang="en-US" sz="4176" b="1" spc="150" dirty="0">
                <a:solidFill>
                  <a:srgbClr val="08377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Grow with Us , Glow Your Future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1493</Words>
  <Application>Microsoft Office PowerPoint</Application>
  <PresentationFormat>Custom</PresentationFormat>
  <Paragraphs>187</Paragraphs>
  <Slides>32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52" baseType="lpstr">
      <vt:lpstr>Libre Baskerville Bold</vt:lpstr>
      <vt:lpstr>Calibri</vt:lpstr>
      <vt:lpstr>Lato Bold</vt:lpstr>
      <vt:lpstr>Montserrat Bold</vt:lpstr>
      <vt:lpstr>League Spartan</vt:lpstr>
      <vt:lpstr>Canva Sans Italics</vt:lpstr>
      <vt:lpstr>Libre Baskerville</vt:lpstr>
      <vt:lpstr>Garet Bold</vt:lpstr>
      <vt:lpstr>Poppins Bold</vt:lpstr>
      <vt:lpstr>Arimo</vt:lpstr>
      <vt:lpstr>Canva Sans</vt:lpstr>
      <vt:lpstr>Arimo Italics</vt:lpstr>
      <vt:lpstr>Montserrat Semi-Bold</vt:lpstr>
      <vt:lpstr>Open Sans Medium</vt:lpstr>
      <vt:lpstr>Canva Sans Bold</vt:lpstr>
      <vt:lpstr>Arimo Bold</vt:lpstr>
      <vt:lpstr>Montserrat</vt:lpstr>
      <vt:lpstr>Arial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CROW EDUCATION</dc:title>
  <dc:creator>Lim Shang Wen</dc:creator>
  <cp:lastModifiedBy>Lim Shang Wen</cp:lastModifiedBy>
  <cp:revision>4</cp:revision>
  <dcterms:created xsi:type="dcterms:W3CDTF">2006-08-16T00:00:00Z</dcterms:created>
  <dcterms:modified xsi:type="dcterms:W3CDTF">2025-12-01T09:01:12Z</dcterms:modified>
  <dc:identifier>DAG3HIjLv2M</dc:identifier>
</cp:coreProperties>
</file>